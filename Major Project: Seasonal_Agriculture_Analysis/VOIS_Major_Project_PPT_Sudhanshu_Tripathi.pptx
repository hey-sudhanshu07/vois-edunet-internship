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7" r:id="rId11"/>
    <p:sldId id="348" r:id="rId12"/>
    <p:sldId id="349" r:id="rId13"/>
    <p:sldId id="350"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F2F2"/>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69" d="100"/>
          <a:sy n="69" d="100"/>
        </p:scale>
        <p:origin x="696" y="54"/>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09-Sep-26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09-Sep-26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09-Sep-26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09-Sep-26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09-Sep-26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09-Sep-26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09-Sep-26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09-Sep-26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09-Sep-26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09-Sep-26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09-Sep-26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09-Sep-26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09-Sep-26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09-Sep-26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09-Sep-26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09-Sep-26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09-Sep-26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09-Sep-26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09-Sep-26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09-Sep-26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hey-Sudhanshu07/VOIS-Edunet-Internship/tree/main/Major%20Project%3A%20Seasonal_Agriculture_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5" name="Text Placeholder 1">
            <a:extLst>
              <a:ext uri="{FF2B5EF4-FFF2-40B4-BE49-F238E27FC236}">
                <a16:creationId xmlns:a16="http://schemas.microsoft.com/office/drawing/2014/main" id="{BC850494-BC56-7EE1-031A-D478793E554E}"/>
              </a:ext>
            </a:extLst>
          </p:cNvPr>
          <p:cNvSpPr txBox="1">
            <a:spLocks/>
          </p:cNvSpPr>
          <p:nvPr/>
        </p:nvSpPr>
        <p:spPr>
          <a:xfrm>
            <a:off x="5195450" y="3655498"/>
            <a:ext cx="5195459" cy="637818"/>
          </a:xfrm>
          <a:prstGeom prst="rect">
            <a:avLst/>
          </a:prstGeom>
        </p:spPr>
        <p:txBody>
          <a:bodyPr vert="horz" lIns="91440" tIns="45720" rIns="91440" bIns="45720" rtlCol="0">
            <a:no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r>
              <a:rPr lang="en-US" sz="2400" dirty="0">
                <a:solidFill>
                  <a:schemeClr val="tx1"/>
                </a:solidFill>
                <a:latin typeface="Book Antiqua" panose="02040602050305030304" pitchFamily="18" charset="0"/>
              </a:rPr>
              <a:t>Student Name: </a:t>
            </a:r>
            <a:r>
              <a:rPr lang="en-US" sz="2400" b="0" dirty="0">
                <a:solidFill>
                  <a:schemeClr val="tx1"/>
                </a:solidFill>
                <a:latin typeface="Book Antiqua" panose="02040602050305030304" pitchFamily="18" charset="0"/>
              </a:rPr>
              <a:t>Sudhanshu Tripathi</a:t>
            </a:r>
            <a:endParaRPr lang="en-IN" sz="2400" b="0" dirty="0">
              <a:solidFill>
                <a:schemeClr val="tx1"/>
              </a:solidFill>
              <a:latin typeface="Book Antiqua" panose="02040602050305030304" pitchFamily="18" charset="0"/>
            </a:endParaRPr>
          </a:p>
        </p:txBody>
      </p:sp>
      <p:sp>
        <p:nvSpPr>
          <p:cNvPr id="7" name="Title 3">
            <a:extLst>
              <a:ext uri="{FF2B5EF4-FFF2-40B4-BE49-F238E27FC236}">
                <a16:creationId xmlns:a16="http://schemas.microsoft.com/office/drawing/2014/main" id="{1C0DF108-AF84-FBB4-4E93-F6FA5D0DE096}"/>
              </a:ext>
            </a:extLst>
          </p:cNvPr>
          <p:cNvSpPr txBox="1">
            <a:spLocks/>
          </p:cNvSpPr>
          <p:nvPr/>
        </p:nvSpPr>
        <p:spPr>
          <a:xfrm>
            <a:off x="5482717" y="1938102"/>
            <a:ext cx="5991446" cy="1025157"/>
          </a:xfrm>
          <a:prstGeom prst="rect">
            <a:avLst/>
          </a:prstGeom>
        </p:spPr>
        <p:txBody>
          <a:bodyPr vert="horz" lIns="91440" tIns="45720" rIns="91440" bIns="45720" rtlCol="0" anchor="t">
            <a:normAutofit fontScale="97500" lnSpcReduction="10000"/>
          </a:bodyPr>
          <a:lstStyle>
            <a:lvl1pPr algn="l" defTabSz="457200" rtl="0" eaLnBrk="1" latinLnBrk="0" hangingPunct="1">
              <a:spcBef>
                <a:spcPct val="0"/>
              </a:spcBef>
              <a:buNone/>
              <a:defRPr sz="2800" kern="1200">
                <a:solidFill>
                  <a:schemeClr val="tx1"/>
                </a:solidFill>
                <a:latin typeface="+mn-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3200" b="1" dirty="0">
                <a:latin typeface="Book Antiqua" panose="02040602050305030304" pitchFamily="18" charset="0"/>
              </a:rPr>
              <a:t>Project Title -</a:t>
            </a:r>
            <a:r>
              <a:rPr lang="en-GB" sz="3200" dirty="0">
                <a:latin typeface="Book Antiqua" panose="02040602050305030304" pitchFamily="18" charset="0"/>
              </a:rPr>
              <a:t> </a:t>
            </a:r>
            <a:r>
              <a:rPr lang="en-US" sz="3200" dirty="0"/>
              <a:t>Seasonal Agriculture Performance Analysis </a:t>
            </a:r>
            <a:endParaRPr lang="en-IN" sz="3200" dirty="0">
              <a:latin typeface="Book Antiqua" panose="02040602050305030304" pitchFamily="18" charset="0"/>
            </a:endParaRPr>
          </a:p>
        </p:txBody>
      </p:sp>
      <p:sp>
        <p:nvSpPr>
          <p:cNvPr id="8" name="TextBox 7">
            <a:extLst>
              <a:ext uri="{FF2B5EF4-FFF2-40B4-BE49-F238E27FC236}">
                <a16:creationId xmlns:a16="http://schemas.microsoft.com/office/drawing/2014/main" id="{8D495BA8-7FA9-CAE3-CBF9-0E8D11BA2EBB}"/>
              </a:ext>
            </a:extLst>
          </p:cNvPr>
          <p:cNvSpPr txBox="1"/>
          <p:nvPr/>
        </p:nvSpPr>
        <p:spPr>
          <a:xfrm>
            <a:off x="4613563" y="3078546"/>
            <a:ext cx="7234673" cy="461665"/>
          </a:xfrm>
          <a:prstGeom prst="rect">
            <a:avLst/>
          </a:prstGeom>
          <a:noFill/>
        </p:spPr>
        <p:txBody>
          <a:bodyPr wrap="none" rtlCol="0">
            <a:spAutoFit/>
          </a:bodyPr>
          <a:lstStyle/>
          <a:p>
            <a:r>
              <a:rPr lang="en-US" sz="2400" b="1" dirty="0">
                <a:latin typeface="Book Antiqua" panose="02040602050305030304" pitchFamily="18" charset="0"/>
              </a:rPr>
              <a:t>AICTE Student ID: </a:t>
            </a:r>
            <a:r>
              <a:rPr lang="en-US" sz="2400" dirty="0">
                <a:latin typeface="Book Antiqua" panose="02040602050305030304" pitchFamily="18" charset="0"/>
              </a:rPr>
              <a:t>STU6a59002fa26dd1784217647</a:t>
            </a:r>
            <a:r>
              <a:rPr lang="en-US" sz="2400" b="1" dirty="0">
                <a:latin typeface="Book Antiqua" panose="02040602050305030304" pitchFamily="18" charset="0"/>
              </a:rPr>
              <a:t> </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down)">
                                      <p:cBhvr>
                                        <p:cTn id="14" dur="580">
                                          <p:stCondLst>
                                            <p:cond delay="0"/>
                                          </p:stCondLst>
                                        </p:cTn>
                                        <p:tgtEl>
                                          <p:spTgt spid="7"/>
                                        </p:tgtEl>
                                      </p:cBhvr>
                                    </p:animEffect>
                                    <p:anim calcmode="lin" valueType="num">
                                      <p:cBhvr>
                                        <p:cTn id="15"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20" dur="26">
                                          <p:stCondLst>
                                            <p:cond delay="650"/>
                                          </p:stCondLst>
                                        </p:cTn>
                                        <p:tgtEl>
                                          <p:spTgt spid="7"/>
                                        </p:tgtEl>
                                      </p:cBhvr>
                                      <p:to x="100000" y="60000"/>
                                    </p:animScale>
                                    <p:animScale>
                                      <p:cBhvr>
                                        <p:cTn id="21" dur="166" decel="50000">
                                          <p:stCondLst>
                                            <p:cond delay="676"/>
                                          </p:stCondLst>
                                        </p:cTn>
                                        <p:tgtEl>
                                          <p:spTgt spid="7"/>
                                        </p:tgtEl>
                                      </p:cBhvr>
                                      <p:to x="100000" y="100000"/>
                                    </p:animScale>
                                    <p:animScale>
                                      <p:cBhvr>
                                        <p:cTn id="22" dur="26">
                                          <p:stCondLst>
                                            <p:cond delay="1312"/>
                                          </p:stCondLst>
                                        </p:cTn>
                                        <p:tgtEl>
                                          <p:spTgt spid="7"/>
                                        </p:tgtEl>
                                      </p:cBhvr>
                                      <p:to x="100000" y="80000"/>
                                    </p:animScale>
                                    <p:animScale>
                                      <p:cBhvr>
                                        <p:cTn id="23" dur="166" decel="50000">
                                          <p:stCondLst>
                                            <p:cond delay="1338"/>
                                          </p:stCondLst>
                                        </p:cTn>
                                        <p:tgtEl>
                                          <p:spTgt spid="7"/>
                                        </p:tgtEl>
                                      </p:cBhvr>
                                      <p:to x="100000" y="100000"/>
                                    </p:animScale>
                                    <p:animScale>
                                      <p:cBhvr>
                                        <p:cTn id="24" dur="26">
                                          <p:stCondLst>
                                            <p:cond delay="1642"/>
                                          </p:stCondLst>
                                        </p:cTn>
                                        <p:tgtEl>
                                          <p:spTgt spid="7"/>
                                        </p:tgtEl>
                                      </p:cBhvr>
                                      <p:to x="100000" y="90000"/>
                                    </p:animScale>
                                    <p:animScale>
                                      <p:cBhvr>
                                        <p:cTn id="25" dur="166" decel="50000">
                                          <p:stCondLst>
                                            <p:cond delay="1668"/>
                                          </p:stCondLst>
                                        </p:cTn>
                                        <p:tgtEl>
                                          <p:spTgt spid="7"/>
                                        </p:tgtEl>
                                      </p:cBhvr>
                                      <p:to x="100000" y="100000"/>
                                    </p:animScale>
                                    <p:animScale>
                                      <p:cBhvr>
                                        <p:cTn id="26" dur="26">
                                          <p:stCondLst>
                                            <p:cond delay="1808"/>
                                          </p:stCondLst>
                                        </p:cTn>
                                        <p:tgtEl>
                                          <p:spTgt spid="7"/>
                                        </p:tgtEl>
                                      </p:cBhvr>
                                      <p:to x="100000" y="95000"/>
                                    </p:animScale>
                                    <p:animScale>
                                      <p:cBhvr>
                                        <p:cTn id="27" dur="166" decel="50000">
                                          <p:stCondLst>
                                            <p:cond delay="1834"/>
                                          </p:stCondLst>
                                        </p:cTn>
                                        <p:tgtEl>
                                          <p:spTgt spid="7"/>
                                        </p:tgtEl>
                                      </p:cBhvr>
                                      <p:to x="100000" y="100000"/>
                                    </p:animScale>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5">
                                            <p:txEl>
                                              <p:pRg st="0" end="0"/>
                                            </p:txEl>
                                          </p:spTgt>
                                        </p:tgtEl>
                                        <p:attrNameLst>
                                          <p:attrName>style.visibility</p:attrName>
                                        </p:attrNameLst>
                                      </p:cBhvr>
                                      <p:to>
                                        <p:strVal val="visible"/>
                                      </p:to>
                                    </p:set>
                                    <p:animEffect transition="in" filter="randombar(horizontal)">
                                      <p:cBhvr>
                                        <p:cTn id="32"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5" grpId="0" build="p"/>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D686C15-D15A-CA6B-11E9-B345B74748FC}"/>
              </a:ext>
            </a:extLst>
          </p:cNvPr>
          <p:cNvSpPr/>
          <p:nvPr/>
        </p:nvSpPr>
        <p:spPr>
          <a:xfrm>
            <a:off x="6442364" y="1385455"/>
            <a:ext cx="955963" cy="1011381"/>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867994" y="1340527"/>
            <a:ext cx="7127690" cy="4854715"/>
          </a:xfrm>
        </p:spPr>
        <p:txBody>
          <a:bodyPr vert="horz" lIns="91440" tIns="45720" rIns="91440" bIns="45720" rtlCol="0" anchor="t">
            <a:noAutofit/>
          </a:bodyPr>
          <a:lstStyle/>
          <a:p>
            <a:pPr>
              <a:lnSpc>
                <a:spcPct val="170000"/>
              </a:lnSpc>
            </a:pPr>
            <a:r>
              <a:rPr lang="en-US" sz="1800" dirty="0">
                <a:solidFill>
                  <a:schemeClr val="tx1"/>
                </a:solidFill>
                <a:latin typeface="Book Antiqua" panose="02040602050305030304" pitchFamily="18"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1800" dirty="0">
              <a:solidFill>
                <a:schemeClr val="tx1"/>
              </a:solidFill>
              <a:latin typeface="Book Antiqua" panose="02040602050305030304" pitchFamily="18" charset="0"/>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Rectangle 3">
            <a:extLst>
              <a:ext uri="{FF2B5EF4-FFF2-40B4-BE49-F238E27FC236}">
                <a16:creationId xmlns:a16="http://schemas.microsoft.com/office/drawing/2014/main" id="{5391877A-1B36-7668-41BC-E765E24D4516}"/>
              </a:ext>
            </a:extLst>
          </p:cNvPr>
          <p:cNvSpPr/>
          <p:nvPr/>
        </p:nvSpPr>
        <p:spPr>
          <a:xfrm>
            <a:off x="6442364" y="1385455"/>
            <a:ext cx="955963" cy="1011381"/>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B2358020-9231-0508-1116-0FA52CE3E1C0}"/>
              </a:ext>
            </a:extLst>
          </p:cNvPr>
          <p:cNvSpPr txBox="1"/>
          <p:nvPr/>
        </p:nvSpPr>
        <p:spPr>
          <a:xfrm>
            <a:off x="660399" y="1553985"/>
            <a:ext cx="8455892" cy="4621843"/>
          </a:xfrm>
          <a:prstGeom prst="rect">
            <a:avLst/>
          </a:prstGeom>
          <a:noFill/>
        </p:spPr>
        <p:txBody>
          <a:bodyPr wrap="square" rtlCol="0">
            <a:spAutoFit/>
          </a:bodyPr>
          <a:lstStyle/>
          <a:p>
            <a:pPr marL="285750" lvl="0" indent="-285750">
              <a:lnSpc>
                <a:spcPct val="150000"/>
              </a:lnSpc>
              <a:buFont typeface="Arial" panose="020B0604020202020204" pitchFamily="34" charset="0"/>
              <a:buChar char="•"/>
            </a:pPr>
            <a:r>
              <a:rPr lang="en-US" dirty="0">
                <a:latin typeface="Book Antiqua" panose="02040602050305030304" pitchFamily="18" charset="0"/>
              </a:rPr>
              <a:t>Conducted an end-to-end data analytics lifecycle on a </a:t>
            </a:r>
            <a:r>
              <a:rPr lang="en-US" b="1" dirty="0">
                <a:latin typeface="Book Antiqua" panose="02040602050305030304" pitchFamily="18" charset="0"/>
              </a:rPr>
              <a:t>4,000-record</a:t>
            </a:r>
            <a:r>
              <a:rPr lang="en-US" dirty="0">
                <a:latin typeface="Book Antiqua" panose="02040602050305030304" pitchFamily="18" charset="0"/>
              </a:rPr>
              <a:t> agricultural dataset to uncover seasonal performance trends.</a:t>
            </a:r>
          </a:p>
          <a:p>
            <a:pPr marL="285750" lvl="0" indent="-285750">
              <a:lnSpc>
                <a:spcPct val="150000"/>
              </a:lnSpc>
              <a:buFont typeface="Arial" panose="020B0604020202020204" pitchFamily="34" charset="0"/>
              <a:buChar char="•"/>
            </a:pPr>
            <a:r>
              <a:rPr lang="en-US" dirty="0">
                <a:latin typeface="Book Antiqua" panose="02040602050305030304" pitchFamily="18" charset="0"/>
              </a:rPr>
              <a:t>Performed rigorous </a:t>
            </a:r>
            <a:r>
              <a:rPr lang="en-US" b="1" dirty="0">
                <a:latin typeface="Book Antiqua" panose="02040602050305030304" pitchFamily="18" charset="0"/>
              </a:rPr>
              <a:t>Data Preprocessing, handling missing values</a:t>
            </a:r>
            <a:r>
              <a:rPr lang="en-US" dirty="0">
                <a:latin typeface="Book Antiqua" panose="02040602050305030304" pitchFamily="18" charset="0"/>
              </a:rPr>
              <a:t> via median imputation and eliminating extreme outliers using the Interquartile Range (IQR) method.</a:t>
            </a:r>
          </a:p>
          <a:p>
            <a:pPr marL="285750" lvl="0" indent="-285750">
              <a:lnSpc>
                <a:spcPct val="150000"/>
              </a:lnSpc>
              <a:buFont typeface="Arial" panose="020B0604020202020204" pitchFamily="34" charset="0"/>
              <a:buChar char="•"/>
            </a:pPr>
            <a:r>
              <a:rPr lang="en-US" dirty="0">
                <a:latin typeface="Book Antiqua" panose="02040602050305030304" pitchFamily="18" charset="0"/>
              </a:rPr>
              <a:t>Executed </a:t>
            </a:r>
            <a:r>
              <a:rPr lang="en-US" b="1" dirty="0">
                <a:latin typeface="Book Antiqua" panose="02040602050305030304" pitchFamily="18" charset="0"/>
              </a:rPr>
              <a:t>Univariate, Bivariate, and Multivariate analyses </a:t>
            </a:r>
            <a:r>
              <a:rPr lang="en-US" dirty="0">
                <a:latin typeface="Book Antiqua" panose="02040602050305030304" pitchFamily="18" charset="0"/>
              </a:rPr>
              <a:t>to map the complex relationships between environmental factors (Rainfall, Temperature) and economic outcomes (Profit, Revenue).</a:t>
            </a:r>
          </a:p>
          <a:p>
            <a:pPr marL="285750" lvl="0" indent="-285750">
              <a:lnSpc>
                <a:spcPct val="150000"/>
              </a:lnSpc>
              <a:buFont typeface="Arial" panose="020B0604020202020204" pitchFamily="34" charset="0"/>
              <a:buChar char="•"/>
            </a:pPr>
            <a:r>
              <a:rPr lang="en-US" dirty="0">
                <a:latin typeface="Book Antiqua" panose="02040602050305030304" pitchFamily="18" charset="0"/>
              </a:rPr>
              <a:t>Delivered </a:t>
            </a:r>
            <a:r>
              <a:rPr lang="en-US" b="1" dirty="0">
                <a:latin typeface="Book Antiqua" panose="02040602050305030304" pitchFamily="18" charset="0"/>
              </a:rPr>
              <a:t>data-driven recommendations </a:t>
            </a:r>
            <a:r>
              <a:rPr lang="en-US" dirty="0">
                <a:latin typeface="Book Antiqua" panose="02040602050305030304" pitchFamily="18" charset="0"/>
              </a:rPr>
              <a:t>to optimize resource usage (like water and pesticides) and maximize farmer profitability across Kharif, Rabi, and Zaid seasons.</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DC434FE-AC60-D28D-A596-20EFBBB498B4}"/>
              </a:ext>
            </a:extLst>
          </p:cNvPr>
          <p:cNvSpPr/>
          <p:nvPr/>
        </p:nvSpPr>
        <p:spPr>
          <a:xfrm>
            <a:off x="6442364" y="1385455"/>
            <a:ext cx="955963" cy="1011381"/>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679258"/>
            <a:ext cx="7951586" cy="4302125"/>
          </a:xfrm>
        </p:spPr>
        <p:txBody>
          <a:bodyPr>
            <a:normAutofit lnSpcReduction="10000"/>
          </a:bodyPr>
          <a:lstStyle/>
          <a:p>
            <a:pPr lvl="0">
              <a:lnSpc>
                <a:spcPct val="150000"/>
              </a:lnSpc>
            </a:pPr>
            <a:r>
              <a:rPr lang="en-US" b="1" dirty="0">
                <a:solidFill>
                  <a:schemeClr val="tx1"/>
                </a:solidFill>
                <a:latin typeface="Book Antiqua" panose="02040602050305030304" pitchFamily="18" charset="0"/>
              </a:rPr>
              <a:t>Farmers &amp; Local Agronomists:</a:t>
            </a:r>
            <a:r>
              <a:rPr lang="en-US" dirty="0">
                <a:solidFill>
                  <a:schemeClr val="tx1"/>
                </a:solidFill>
                <a:latin typeface="Book Antiqua" panose="02040602050305030304" pitchFamily="18" charset="0"/>
              </a:rPr>
              <a:t> To make data-backed decisions on crop selection based on regional rainfall zones and to understand the economic risks of off-season (Zaid) farming.</a:t>
            </a:r>
          </a:p>
          <a:p>
            <a:pPr lvl="0">
              <a:lnSpc>
                <a:spcPct val="150000"/>
              </a:lnSpc>
            </a:pPr>
            <a:r>
              <a:rPr lang="en-US" b="1" dirty="0">
                <a:solidFill>
                  <a:schemeClr val="tx1"/>
                </a:solidFill>
                <a:latin typeface="Book Antiqua" panose="02040602050305030304" pitchFamily="18" charset="0"/>
              </a:rPr>
              <a:t>Agri-Tech Companies &amp; Planners:</a:t>
            </a:r>
            <a:r>
              <a:rPr lang="en-US" dirty="0">
                <a:solidFill>
                  <a:schemeClr val="tx1"/>
                </a:solidFill>
                <a:latin typeface="Book Antiqua" panose="02040602050305030304" pitchFamily="18" charset="0"/>
              </a:rPr>
              <a:t> To identify patterns of severe resource over-consumption (e.g., massive water usage outliers) and target areas for deploying smart irrigation systems.</a:t>
            </a:r>
          </a:p>
          <a:p>
            <a:pPr lvl="0">
              <a:lnSpc>
                <a:spcPct val="150000"/>
              </a:lnSpc>
            </a:pPr>
            <a:r>
              <a:rPr lang="en-US" b="1" dirty="0">
                <a:solidFill>
                  <a:schemeClr val="tx1"/>
                </a:solidFill>
                <a:latin typeface="Book Antiqua" panose="02040602050305030304" pitchFamily="18" charset="0"/>
              </a:rPr>
              <a:t>Government Policymakers:</a:t>
            </a:r>
            <a:r>
              <a:rPr lang="en-US" dirty="0">
                <a:solidFill>
                  <a:schemeClr val="tx1"/>
                </a:solidFill>
                <a:latin typeface="Book Antiqua" panose="02040602050305030304" pitchFamily="18" charset="0"/>
              </a:rPr>
              <a:t> To recognize regional economic disparities and optimize the distribution of subsidies for pesticides and fertilizers where they are most effective.</a:t>
            </a:r>
          </a:p>
          <a:p>
            <a:pPr algn="just">
              <a:lnSpc>
                <a:spcPct val="150000"/>
              </a:lnSpc>
            </a:pPr>
            <a:endParaRPr lang="en-IN" dirty="0">
              <a:solidFill>
                <a:schemeClr val="tx1"/>
              </a:solidFill>
              <a:latin typeface="Book Antiqua" panose="02040602050305030304" pitchFamily="18" charset="0"/>
            </a:endParaRP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2252749"/>
          </a:xfrm>
        </p:spPr>
        <p:txBody>
          <a:bodyPr>
            <a:normAutofit lnSpcReduction="10000"/>
          </a:bodyPr>
          <a:lstStyle/>
          <a:p>
            <a:pPr lvl="0"/>
            <a:r>
              <a:rPr lang="en-US" b="1" dirty="0">
                <a:solidFill>
                  <a:schemeClr val="tx1"/>
                </a:solidFill>
                <a:latin typeface="Book Antiqua" panose="02040602050305030304" pitchFamily="18" charset="0"/>
              </a:rPr>
              <a:t>Programming Language:</a:t>
            </a:r>
            <a:r>
              <a:rPr lang="en-US" dirty="0">
                <a:solidFill>
                  <a:schemeClr val="tx1"/>
                </a:solidFill>
                <a:latin typeface="Book Antiqua" panose="02040602050305030304" pitchFamily="18" charset="0"/>
              </a:rPr>
              <a:t> Python 3</a:t>
            </a:r>
          </a:p>
          <a:p>
            <a:pPr lvl="0"/>
            <a:r>
              <a:rPr lang="en-US" b="1" dirty="0">
                <a:solidFill>
                  <a:schemeClr val="tx1"/>
                </a:solidFill>
                <a:latin typeface="Book Antiqua" panose="02040602050305030304" pitchFamily="18" charset="0"/>
              </a:rPr>
              <a:t>Data Manipulation &amp; Cleaning:</a:t>
            </a:r>
            <a:r>
              <a:rPr lang="en-US" dirty="0">
                <a:solidFill>
                  <a:schemeClr val="tx1"/>
                </a:solidFill>
                <a:latin typeface="Book Antiqua" panose="02040602050305030304" pitchFamily="18" charset="0"/>
              </a:rPr>
              <a:t> Pandas, NumPy</a:t>
            </a:r>
          </a:p>
          <a:p>
            <a:pPr lvl="0"/>
            <a:r>
              <a:rPr lang="en-US" b="1" dirty="0">
                <a:solidFill>
                  <a:schemeClr val="tx1"/>
                </a:solidFill>
                <a:latin typeface="Book Antiqua" panose="02040602050305030304" pitchFamily="18" charset="0"/>
              </a:rPr>
              <a:t>Data Visualization:</a:t>
            </a:r>
            <a:r>
              <a:rPr lang="en-US" dirty="0">
                <a:solidFill>
                  <a:schemeClr val="tx1"/>
                </a:solidFill>
                <a:latin typeface="Book Antiqua" panose="02040602050305030304" pitchFamily="18" charset="0"/>
              </a:rPr>
              <a:t> Matplotlib, Seaborn</a:t>
            </a:r>
          </a:p>
          <a:p>
            <a:pPr lvl="0"/>
            <a:r>
              <a:rPr lang="en-US" b="1" dirty="0">
                <a:solidFill>
                  <a:schemeClr val="tx1"/>
                </a:solidFill>
                <a:latin typeface="Book Antiqua" panose="02040602050305030304" pitchFamily="18" charset="0"/>
              </a:rPr>
              <a:t>Environment / IDE:</a:t>
            </a:r>
            <a:r>
              <a:rPr lang="en-US" dirty="0">
                <a:solidFill>
                  <a:schemeClr val="tx1"/>
                </a:solidFill>
                <a:latin typeface="Book Antiqua" panose="02040602050305030304" pitchFamily="18" charset="0"/>
              </a:rPr>
              <a:t> Google Colab / Jupyter Notebook</a:t>
            </a:r>
          </a:p>
          <a:p>
            <a:pPr lvl="1">
              <a:lnSpc>
                <a:spcPct val="150000"/>
              </a:lnSpc>
            </a:pPr>
            <a:endParaRPr lang="en-IN" dirty="0">
              <a:solidFill>
                <a:schemeClr val="tx1"/>
              </a:solidFill>
              <a:latin typeface="Book Antiqua" panose="02040602050305030304" pitchFamily="18" charset="0"/>
            </a:endParaRP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7399505" y="1623547"/>
            <a:ext cx="4327252" cy="4784238"/>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fontScale="92500" lnSpcReduction="2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lvl="0" indent="-342900" algn="just">
              <a:lnSpc>
                <a:spcPct val="150000"/>
              </a:lnSpc>
              <a:buFont typeface="Arial" panose="020B0604020202020204" pitchFamily="34" charset="0"/>
              <a:buChar char="•"/>
            </a:pPr>
            <a:r>
              <a:rPr lang="en-US" sz="2000" b="1" dirty="0">
                <a:latin typeface="Book Antiqua" panose="02040602050305030304" pitchFamily="18" charset="0"/>
              </a:rPr>
              <a:t>Robust Data Preprocessing:</a:t>
            </a:r>
            <a:r>
              <a:rPr lang="en-US" sz="2000" dirty="0">
                <a:latin typeface="Book Antiqua" panose="02040602050305030304" pitchFamily="18" charset="0"/>
              </a:rPr>
              <a:t> Implemented the Interquartile Range (IQR) method to identify and remove extreme, unrealistic anomalies (e.g., Yield spikes of 100+ </a:t>
            </a:r>
            <a:r>
              <a:rPr lang="en-US" sz="2000" dirty="0" err="1">
                <a:latin typeface="Book Antiqua" panose="02040602050305030304" pitchFamily="18" charset="0"/>
              </a:rPr>
              <a:t>tonnes</a:t>
            </a:r>
            <a:r>
              <a:rPr lang="en-US" sz="2000" dirty="0">
                <a:latin typeface="Book Antiqua" panose="02040602050305030304" pitchFamily="18" charset="0"/>
              </a:rPr>
              <a:t>).</a:t>
            </a:r>
          </a:p>
          <a:p>
            <a:pPr marL="342900" lvl="0" indent="-342900" algn="just">
              <a:lnSpc>
                <a:spcPct val="150000"/>
              </a:lnSpc>
              <a:buFont typeface="Arial" panose="020B0604020202020204" pitchFamily="34" charset="0"/>
              <a:buChar char="•"/>
            </a:pPr>
            <a:r>
              <a:rPr lang="en-US" sz="2000" b="1" dirty="0">
                <a:latin typeface="Book Antiqua" panose="02040602050305030304" pitchFamily="18" charset="0"/>
              </a:rPr>
              <a:t>Ensuring Accuracy:</a:t>
            </a:r>
            <a:r>
              <a:rPr lang="en-US" sz="2000" dirty="0">
                <a:latin typeface="Book Antiqua" panose="02040602050305030304" pitchFamily="18" charset="0"/>
              </a:rPr>
              <a:t> This critical step prevents skewed visualizations and guarantees that our economic averages (Profit/Revenue) reflect true ground realities.</a:t>
            </a:r>
          </a:p>
        </p:txBody>
      </p:sp>
      <p:sp>
        <p:nvSpPr>
          <p:cNvPr id="2" name="Title 3">
            <a:extLst>
              <a:ext uri="{FF2B5EF4-FFF2-40B4-BE49-F238E27FC236}">
                <a16:creationId xmlns:a16="http://schemas.microsoft.com/office/drawing/2014/main" id="{2899BBDD-DE35-7208-29E8-4033D6B7C99C}"/>
              </a:ext>
            </a:extLst>
          </p:cNvPr>
          <p:cNvSpPr txBox="1">
            <a:spLocks/>
          </p:cNvSpPr>
          <p:nvPr/>
        </p:nvSpPr>
        <p:spPr>
          <a:xfrm>
            <a:off x="501940" y="320325"/>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RESULTS </a:t>
            </a:r>
            <a:endParaRPr lang="en-IN" dirty="0"/>
          </a:p>
        </p:txBody>
      </p:sp>
      <p:sp>
        <p:nvSpPr>
          <p:cNvPr id="3" name="Title 3">
            <a:extLst>
              <a:ext uri="{FF2B5EF4-FFF2-40B4-BE49-F238E27FC236}">
                <a16:creationId xmlns:a16="http://schemas.microsoft.com/office/drawing/2014/main" id="{C3309E5C-C23D-25C0-FD99-0DA8D7C0837F}"/>
              </a:ext>
            </a:extLst>
          </p:cNvPr>
          <p:cNvSpPr txBox="1">
            <a:spLocks/>
          </p:cNvSpPr>
          <p:nvPr/>
        </p:nvSpPr>
        <p:spPr>
          <a:xfrm>
            <a:off x="513501" y="1027272"/>
            <a:ext cx="3343561" cy="496198"/>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dirty="0"/>
              <a:t>📌 Data Cleaning</a:t>
            </a:r>
            <a:r>
              <a:rPr lang="en-GB" sz="2800" dirty="0"/>
              <a:t> </a:t>
            </a:r>
            <a:endParaRPr lang="en-IN" sz="2800" dirty="0"/>
          </a:p>
        </p:txBody>
      </p:sp>
      <p:sp>
        <p:nvSpPr>
          <p:cNvPr id="11" name="Rectangle 10">
            <a:extLst>
              <a:ext uri="{FF2B5EF4-FFF2-40B4-BE49-F238E27FC236}">
                <a16:creationId xmlns:a16="http://schemas.microsoft.com/office/drawing/2014/main" id="{38CE473B-6B3A-1D65-A330-6E19964E149D}"/>
              </a:ext>
            </a:extLst>
          </p:cNvPr>
          <p:cNvSpPr/>
          <p:nvPr/>
        </p:nvSpPr>
        <p:spPr>
          <a:xfrm>
            <a:off x="6442364" y="1385455"/>
            <a:ext cx="955963" cy="1011381"/>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F104350B-EB70-F964-1999-7EA2D18EAEB4}"/>
              </a:ext>
            </a:extLst>
          </p:cNvPr>
          <p:cNvGrpSpPr/>
          <p:nvPr/>
        </p:nvGrpSpPr>
        <p:grpSpPr>
          <a:xfrm>
            <a:off x="465243" y="1608410"/>
            <a:ext cx="6689529" cy="4784238"/>
            <a:chOff x="1215475" y="1523470"/>
            <a:chExt cx="6689529" cy="4784238"/>
          </a:xfrm>
        </p:grpSpPr>
        <p:pic>
          <p:nvPicPr>
            <p:cNvPr id="13" name="Picture 12">
              <a:extLst>
                <a:ext uri="{FF2B5EF4-FFF2-40B4-BE49-F238E27FC236}">
                  <a16:creationId xmlns:a16="http://schemas.microsoft.com/office/drawing/2014/main" id="{1AE998C7-F022-410F-EDB7-659C49681640}"/>
                </a:ext>
              </a:extLst>
            </p:cNvPr>
            <p:cNvPicPr>
              <a:picLocks noChangeAspect="1"/>
            </p:cNvPicPr>
            <p:nvPr/>
          </p:nvPicPr>
          <p:blipFill>
            <a:blip r:embed="rId3"/>
            <a:stretch>
              <a:fillRect/>
            </a:stretch>
          </p:blipFill>
          <p:spPr>
            <a:xfrm>
              <a:off x="1215475" y="1523470"/>
              <a:ext cx="6689529" cy="4192959"/>
            </a:xfrm>
            <a:prstGeom prst="rect">
              <a:avLst/>
            </a:prstGeom>
          </p:spPr>
        </p:pic>
        <p:pic>
          <p:nvPicPr>
            <p:cNvPr id="15" name="Picture 14">
              <a:extLst>
                <a:ext uri="{FF2B5EF4-FFF2-40B4-BE49-F238E27FC236}">
                  <a16:creationId xmlns:a16="http://schemas.microsoft.com/office/drawing/2014/main" id="{9C1DE893-9660-A0C4-8161-6D39B7687259}"/>
                </a:ext>
              </a:extLst>
            </p:cNvPr>
            <p:cNvPicPr>
              <a:picLocks noChangeAspect="1"/>
            </p:cNvPicPr>
            <p:nvPr/>
          </p:nvPicPr>
          <p:blipFill>
            <a:blip r:embed="rId4"/>
            <a:srcRect l="462" t="5773" r="18303" b="1"/>
            <a:stretch>
              <a:fillRect/>
            </a:stretch>
          </p:blipFill>
          <p:spPr>
            <a:xfrm>
              <a:off x="1215475" y="5714425"/>
              <a:ext cx="6689529" cy="593283"/>
            </a:xfrm>
            <a:prstGeom prst="rect">
              <a:avLst/>
            </a:prstGeom>
          </p:spPr>
        </p:pic>
      </p:gr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p:cTn id="21" dur="500" fill="hold"/>
                                        <p:tgtEl>
                                          <p:spTgt spid="2"/>
                                        </p:tgtEl>
                                        <p:attrNameLst>
                                          <p:attrName>ppt_w</p:attrName>
                                        </p:attrNameLst>
                                      </p:cBhvr>
                                      <p:tavLst>
                                        <p:tav tm="0">
                                          <p:val>
                                            <p:fltVal val="0"/>
                                          </p:val>
                                        </p:tav>
                                        <p:tav tm="100000">
                                          <p:val>
                                            <p:strVal val="#ppt_w"/>
                                          </p:val>
                                        </p:tav>
                                      </p:tavLst>
                                    </p:anim>
                                    <p:anim calcmode="lin" valueType="num">
                                      <p:cBhvr>
                                        <p:cTn id="22" dur="500" fill="hold"/>
                                        <p:tgtEl>
                                          <p:spTgt spid="2"/>
                                        </p:tgtEl>
                                        <p:attrNameLst>
                                          <p:attrName>ppt_h</p:attrName>
                                        </p:attrNameLst>
                                      </p:cBhvr>
                                      <p:tavLst>
                                        <p:tav tm="0">
                                          <p:val>
                                            <p:fltVal val="0"/>
                                          </p:val>
                                        </p:tav>
                                        <p:tav tm="100000">
                                          <p:val>
                                            <p:strVal val="#ppt_h"/>
                                          </p:val>
                                        </p:tav>
                                      </p:tavLst>
                                    </p:anim>
                                    <p:animEffect transition="in" filter="fade">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p:cTn id="28" dur="500" fill="hold"/>
                                        <p:tgtEl>
                                          <p:spTgt spid="3"/>
                                        </p:tgtEl>
                                        <p:attrNameLst>
                                          <p:attrName>ppt_w</p:attrName>
                                        </p:attrNameLst>
                                      </p:cBhvr>
                                      <p:tavLst>
                                        <p:tav tm="0">
                                          <p:val>
                                            <p:fltVal val="0"/>
                                          </p:val>
                                        </p:tav>
                                        <p:tav tm="100000">
                                          <p:val>
                                            <p:strVal val="#ppt_w"/>
                                          </p:val>
                                        </p:tav>
                                      </p:tavLst>
                                    </p:anim>
                                    <p:anim calcmode="lin" valueType="num">
                                      <p:cBhvr>
                                        <p:cTn id="29" dur="500" fill="hold"/>
                                        <p:tgtEl>
                                          <p:spTgt spid="3"/>
                                        </p:tgtEl>
                                        <p:attrNameLst>
                                          <p:attrName>ppt_h</p:attrName>
                                        </p:attrNameLst>
                                      </p:cBhvr>
                                      <p:tavLst>
                                        <p:tav tm="0">
                                          <p:val>
                                            <p:fltVal val="0"/>
                                          </p:val>
                                        </p:tav>
                                        <p:tav tm="100000">
                                          <p:val>
                                            <p:strVal val="#ppt_h"/>
                                          </p:val>
                                        </p:tav>
                                      </p:tavLst>
                                    </p:anim>
                                    <p:animEffect transition="in" filter="fade">
                                      <p:cBhvr>
                                        <p:cTn id="3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2" grpId="0"/>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05EDB-4C4B-6BF1-F8E5-0670A5DEFE5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003F51A-88AD-3B11-CEB6-80FA37F3935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30">
            <a:extLst>
              <a:ext uri="{FF2B5EF4-FFF2-40B4-BE49-F238E27FC236}">
                <a16:creationId xmlns:a16="http://schemas.microsoft.com/office/drawing/2014/main" id="{155A82A8-F5A0-0857-6D0F-8B3A54A27D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F857C3D6-ADF1-20C9-71C5-AC2EDC42776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itle 3">
            <a:extLst>
              <a:ext uri="{FF2B5EF4-FFF2-40B4-BE49-F238E27FC236}">
                <a16:creationId xmlns:a16="http://schemas.microsoft.com/office/drawing/2014/main" id="{56FFF4AE-C560-0270-AA89-DDD825FC08F5}"/>
              </a:ext>
            </a:extLst>
          </p:cNvPr>
          <p:cNvSpPr txBox="1">
            <a:spLocks/>
          </p:cNvSpPr>
          <p:nvPr/>
        </p:nvSpPr>
        <p:spPr>
          <a:xfrm>
            <a:off x="501940" y="320325"/>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RESULTS </a:t>
            </a:r>
            <a:endParaRPr lang="en-IN" dirty="0"/>
          </a:p>
        </p:txBody>
      </p:sp>
      <p:sp>
        <p:nvSpPr>
          <p:cNvPr id="3" name="Title 3">
            <a:extLst>
              <a:ext uri="{FF2B5EF4-FFF2-40B4-BE49-F238E27FC236}">
                <a16:creationId xmlns:a16="http://schemas.microsoft.com/office/drawing/2014/main" id="{4D2D6B78-BC94-F322-C430-6C09623C9C03}"/>
              </a:ext>
            </a:extLst>
          </p:cNvPr>
          <p:cNvSpPr txBox="1">
            <a:spLocks/>
          </p:cNvSpPr>
          <p:nvPr/>
        </p:nvSpPr>
        <p:spPr>
          <a:xfrm>
            <a:off x="513501" y="1027272"/>
            <a:ext cx="4744299" cy="496198"/>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dirty="0"/>
              <a:t>📌 Seasonal Performance</a:t>
            </a:r>
            <a:endParaRPr lang="en-IN" sz="2800" dirty="0"/>
          </a:p>
        </p:txBody>
      </p:sp>
      <p:sp>
        <p:nvSpPr>
          <p:cNvPr id="11" name="Rectangle 10">
            <a:extLst>
              <a:ext uri="{FF2B5EF4-FFF2-40B4-BE49-F238E27FC236}">
                <a16:creationId xmlns:a16="http://schemas.microsoft.com/office/drawing/2014/main" id="{9A8CBF5A-6733-B509-F3CF-814DCB4E1D93}"/>
              </a:ext>
            </a:extLst>
          </p:cNvPr>
          <p:cNvSpPr/>
          <p:nvPr/>
        </p:nvSpPr>
        <p:spPr>
          <a:xfrm>
            <a:off x="6442364" y="1385455"/>
            <a:ext cx="955963" cy="1011381"/>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C030C45B-85DA-DDDE-CFB1-AA03D6CD0648}"/>
              </a:ext>
            </a:extLst>
          </p:cNvPr>
          <p:cNvPicPr>
            <a:picLocks noChangeAspect="1"/>
          </p:cNvPicPr>
          <p:nvPr/>
        </p:nvPicPr>
        <p:blipFill>
          <a:blip r:embed="rId3"/>
          <a:srcRect r="32310"/>
          <a:stretch>
            <a:fillRect/>
          </a:stretch>
        </p:blipFill>
        <p:spPr>
          <a:xfrm>
            <a:off x="1173603" y="1523470"/>
            <a:ext cx="4977834" cy="4159580"/>
          </a:xfrm>
          <a:prstGeom prst="rect">
            <a:avLst/>
          </a:prstGeom>
          <a:ln>
            <a:solidFill>
              <a:schemeClr val="tx1"/>
            </a:solidFill>
          </a:ln>
        </p:spPr>
      </p:pic>
      <p:sp>
        <p:nvSpPr>
          <p:cNvPr id="13" name="Text Placeholder 30">
            <a:extLst>
              <a:ext uri="{FF2B5EF4-FFF2-40B4-BE49-F238E27FC236}">
                <a16:creationId xmlns:a16="http://schemas.microsoft.com/office/drawing/2014/main" id="{305F1143-18C9-187E-67B8-8C48CB5CD48E}"/>
              </a:ext>
            </a:extLst>
          </p:cNvPr>
          <p:cNvSpPr txBox="1">
            <a:spLocks/>
          </p:cNvSpPr>
          <p:nvPr/>
        </p:nvSpPr>
        <p:spPr>
          <a:xfrm>
            <a:off x="6313039" y="1479041"/>
            <a:ext cx="4521216" cy="4204009"/>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fontScale="92500" lnSpcReduction="2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lvl="0" indent="-342900" algn="just">
              <a:lnSpc>
                <a:spcPct val="150000"/>
              </a:lnSpc>
              <a:buFont typeface="Arial" panose="020B0604020202020204" pitchFamily="34" charset="0"/>
              <a:buChar char="•"/>
            </a:pPr>
            <a:r>
              <a:rPr lang="en-US" sz="2000" b="1" dirty="0">
                <a:latin typeface="Book Antiqua" panose="02040602050305030304" pitchFamily="18" charset="0"/>
              </a:rPr>
              <a:t>Kharif Dominance:</a:t>
            </a:r>
            <a:r>
              <a:rPr lang="en-US" sz="2000" dirty="0">
                <a:latin typeface="Book Antiqua" panose="02040602050305030304" pitchFamily="18" charset="0"/>
              </a:rPr>
              <a:t> The data clearly establishes the Kharif season as the primary economic driver, consistently yielding the highest average profit.</a:t>
            </a:r>
          </a:p>
          <a:p>
            <a:pPr marL="342900" lvl="0" indent="-342900" algn="just">
              <a:lnSpc>
                <a:spcPct val="150000"/>
              </a:lnSpc>
              <a:buFont typeface="Arial" panose="020B0604020202020204" pitchFamily="34" charset="0"/>
              <a:buChar char="•"/>
            </a:pPr>
            <a:r>
              <a:rPr lang="en-US" sz="2000" b="1" dirty="0">
                <a:latin typeface="Book Antiqua" panose="02040602050305030304" pitchFamily="18" charset="0"/>
              </a:rPr>
              <a:t>The Zaid Risk:</a:t>
            </a:r>
            <a:r>
              <a:rPr lang="en-US" sz="2000" dirty="0">
                <a:latin typeface="Book Antiqua" panose="02040602050305030304" pitchFamily="18" charset="0"/>
              </a:rPr>
              <a:t> The Zaid (summer) season displays the lowest financial returns, with error bars indicating a high probability of negative profit (financial loss).</a:t>
            </a:r>
          </a:p>
        </p:txBody>
      </p:sp>
    </p:spTree>
    <p:extLst>
      <p:ext uri="{BB962C8B-B14F-4D97-AF65-F5344CB8AC3E}">
        <p14:creationId xmlns:p14="http://schemas.microsoft.com/office/powerpoint/2010/main" val="3194522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p:cTn id="21" dur="500" fill="hold"/>
                                        <p:tgtEl>
                                          <p:spTgt spid="2"/>
                                        </p:tgtEl>
                                        <p:attrNameLst>
                                          <p:attrName>ppt_w</p:attrName>
                                        </p:attrNameLst>
                                      </p:cBhvr>
                                      <p:tavLst>
                                        <p:tav tm="0">
                                          <p:val>
                                            <p:fltVal val="0"/>
                                          </p:val>
                                        </p:tav>
                                        <p:tav tm="100000">
                                          <p:val>
                                            <p:strVal val="#ppt_w"/>
                                          </p:val>
                                        </p:tav>
                                      </p:tavLst>
                                    </p:anim>
                                    <p:anim calcmode="lin" valueType="num">
                                      <p:cBhvr>
                                        <p:cTn id="22" dur="500" fill="hold"/>
                                        <p:tgtEl>
                                          <p:spTgt spid="2"/>
                                        </p:tgtEl>
                                        <p:attrNameLst>
                                          <p:attrName>ppt_h</p:attrName>
                                        </p:attrNameLst>
                                      </p:cBhvr>
                                      <p:tavLst>
                                        <p:tav tm="0">
                                          <p:val>
                                            <p:fltVal val="0"/>
                                          </p:val>
                                        </p:tav>
                                        <p:tav tm="100000">
                                          <p:val>
                                            <p:strVal val="#ppt_h"/>
                                          </p:val>
                                        </p:tav>
                                      </p:tavLst>
                                    </p:anim>
                                    <p:animEffect transition="in" filter="fade">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p:cTn id="28" dur="500" fill="hold"/>
                                        <p:tgtEl>
                                          <p:spTgt spid="3"/>
                                        </p:tgtEl>
                                        <p:attrNameLst>
                                          <p:attrName>ppt_w</p:attrName>
                                        </p:attrNameLst>
                                      </p:cBhvr>
                                      <p:tavLst>
                                        <p:tav tm="0">
                                          <p:val>
                                            <p:fltVal val="0"/>
                                          </p:val>
                                        </p:tav>
                                        <p:tav tm="100000">
                                          <p:val>
                                            <p:strVal val="#ppt_w"/>
                                          </p:val>
                                        </p:tav>
                                      </p:tavLst>
                                    </p:anim>
                                    <p:anim calcmode="lin" valueType="num">
                                      <p:cBhvr>
                                        <p:cTn id="29" dur="500" fill="hold"/>
                                        <p:tgtEl>
                                          <p:spTgt spid="3"/>
                                        </p:tgtEl>
                                        <p:attrNameLst>
                                          <p:attrName>ppt_h</p:attrName>
                                        </p:attrNameLst>
                                      </p:cBhvr>
                                      <p:tavLst>
                                        <p:tav tm="0">
                                          <p:val>
                                            <p:fltVal val="0"/>
                                          </p:val>
                                        </p:tav>
                                        <p:tav tm="100000">
                                          <p:val>
                                            <p:strVal val="#ppt_h"/>
                                          </p:val>
                                        </p:tav>
                                      </p:tavLst>
                                    </p:anim>
                                    <p:animEffect transition="in" filter="fade">
                                      <p:cBhvr>
                                        <p:cTn id="30" dur="500"/>
                                        <p:tgtEl>
                                          <p:spTgt spid="3"/>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1000"/>
                                        <p:tgtEl>
                                          <p:spTgt spid="13"/>
                                        </p:tgtEl>
                                      </p:cBhvr>
                                    </p:animEffect>
                                    <p:anim calcmode="lin" valueType="num">
                                      <p:cBhvr>
                                        <p:cTn id="36" dur="1000" fill="hold"/>
                                        <p:tgtEl>
                                          <p:spTgt spid="13"/>
                                        </p:tgtEl>
                                        <p:attrNameLst>
                                          <p:attrName>ppt_x</p:attrName>
                                        </p:attrNameLst>
                                      </p:cBhvr>
                                      <p:tavLst>
                                        <p:tav tm="0">
                                          <p:val>
                                            <p:strVal val="#ppt_x"/>
                                          </p:val>
                                        </p:tav>
                                        <p:tav tm="100000">
                                          <p:val>
                                            <p:strVal val="#ppt_x"/>
                                          </p:val>
                                        </p:tav>
                                      </p:tavLst>
                                    </p:anim>
                                    <p:anim calcmode="lin" valueType="num">
                                      <p:cBhvr>
                                        <p:cTn id="3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2" grpId="0"/>
      <p:bldP spid="3" grpId="0"/>
      <p:bldP spid="1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49350-2A68-589F-76EE-45A266ED150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26C9A1F-6E39-98E1-A296-A085FAD101A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30">
            <a:extLst>
              <a:ext uri="{FF2B5EF4-FFF2-40B4-BE49-F238E27FC236}">
                <a16:creationId xmlns:a16="http://schemas.microsoft.com/office/drawing/2014/main" id="{39B91952-F700-1C9B-C967-82226578A3B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DA11F4F-B105-DA5D-C59C-1667C53725B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itle 3">
            <a:extLst>
              <a:ext uri="{FF2B5EF4-FFF2-40B4-BE49-F238E27FC236}">
                <a16:creationId xmlns:a16="http://schemas.microsoft.com/office/drawing/2014/main" id="{90E7C257-C31A-C97A-77A0-C81AF2CDA7A1}"/>
              </a:ext>
            </a:extLst>
          </p:cNvPr>
          <p:cNvSpPr txBox="1">
            <a:spLocks/>
          </p:cNvSpPr>
          <p:nvPr/>
        </p:nvSpPr>
        <p:spPr>
          <a:xfrm>
            <a:off x="501940" y="320325"/>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RESULTS </a:t>
            </a:r>
            <a:endParaRPr lang="en-IN" dirty="0"/>
          </a:p>
        </p:txBody>
      </p:sp>
      <p:sp>
        <p:nvSpPr>
          <p:cNvPr id="3" name="Title 3">
            <a:extLst>
              <a:ext uri="{FF2B5EF4-FFF2-40B4-BE49-F238E27FC236}">
                <a16:creationId xmlns:a16="http://schemas.microsoft.com/office/drawing/2014/main" id="{738A6091-5AE3-1DBB-2C98-40445750ECB5}"/>
              </a:ext>
            </a:extLst>
          </p:cNvPr>
          <p:cNvSpPr txBox="1">
            <a:spLocks/>
          </p:cNvSpPr>
          <p:nvPr/>
        </p:nvSpPr>
        <p:spPr>
          <a:xfrm>
            <a:off x="513501" y="1027272"/>
            <a:ext cx="5582499" cy="496198"/>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dirty="0"/>
              <a:t>📌 Environmental Dependency</a:t>
            </a:r>
            <a:endParaRPr lang="en-IN" sz="2800" dirty="0"/>
          </a:p>
        </p:txBody>
      </p:sp>
      <p:sp>
        <p:nvSpPr>
          <p:cNvPr id="11" name="Rectangle 10">
            <a:extLst>
              <a:ext uri="{FF2B5EF4-FFF2-40B4-BE49-F238E27FC236}">
                <a16:creationId xmlns:a16="http://schemas.microsoft.com/office/drawing/2014/main" id="{6F8F3DD0-8A6D-A177-2857-0732E33B81EC}"/>
              </a:ext>
            </a:extLst>
          </p:cNvPr>
          <p:cNvSpPr/>
          <p:nvPr/>
        </p:nvSpPr>
        <p:spPr>
          <a:xfrm>
            <a:off x="6442364" y="1385455"/>
            <a:ext cx="955963" cy="1011381"/>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4F0BDEE-562A-B467-F73D-16AC81ADF38C}"/>
              </a:ext>
            </a:extLst>
          </p:cNvPr>
          <p:cNvPicPr>
            <a:picLocks noChangeAspect="1"/>
          </p:cNvPicPr>
          <p:nvPr/>
        </p:nvPicPr>
        <p:blipFill>
          <a:blip r:embed="rId3"/>
          <a:stretch>
            <a:fillRect/>
          </a:stretch>
        </p:blipFill>
        <p:spPr>
          <a:xfrm>
            <a:off x="969818" y="3701606"/>
            <a:ext cx="10324552" cy="3017749"/>
          </a:xfrm>
          <a:prstGeom prst="rect">
            <a:avLst/>
          </a:prstGeom>
          <a:ln>
            <a:solidFill>
              <a:schemeClr val="tx1"/>
            </a:solidFill>
          </a:ln>
        </p:spPr>
      </p:pic>
      <p:sp>
        <p:nvSpPr>
          <p:cNvPr id="6" name="Text Placeholder 30">
            <a:extLst>
              <a:ext uri="{FF2B5EF4-FFF2-40B4-BE49-F238E27FC236}">
                <a16:creationId xmlns:a16="http://schemas.microsoft.com/office/drawing/2014/main" id="{A545FD46-3FF0-6350-E1B5-A0FDD7E998F0}"/>
              </a:ext>
            </a:extLst>
          </p:cNvPr>
          <p:cNvSpPr txBox="1">
            <a:spLocks/>
          </p:cNvSpPr>
          <p:nvPr/>
        </p:nvSpPr>
        <p:spPr>
          <a:xfrm>
            <a:off x="969819" y="1647519"/>
            <a:ext cx="10324552" cy="193117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lvl="0" indent="-342900" algn="just">
              <a:lnSpc>
                <a:spcPct val="150000"/>
              </a:lnSpc>
              <a:buFont typeface="Arial" panose="020B0604020202020204" pitchFamily="34" charset="0"/>
              <a:buChar char="•"/>
            </a:pPr>
            <a:r>
              <a:rPr lang="en-US" b="1" dirty="0">
                <a:latin typeface="Book Antiqua" panose="02040602050305030304" pitchFamily="18" charset="0"/>
              </a:rPr>
              <a:t>Strict Climatic Boundaries:</a:t>
            </a:r>
            <a:r>
              <a:rPr lang="en-US" dirty="0">
                <a:latin typeface="Book Antiqua" panose="02040602050305030304" pitchFamily="18" charset="0"/>
              </a:rPr>
              <a:t> Revealed that Kharif crops are strictly dependent on high-rainfall zones (600mm - 1400mm), while Rabi thrives in lower rainfall conditions.</a:t>
            </a:r>
          </a:p>
          <a:p>
            <a:pPr marL="342900" lvl="0" indent="-342900" algn="just">
              <a:lnSpc>
                <a:spcPct val="150000"/>
              </a:lnSpc>
              <a:buFont typeface="Arial" panose="020B0604020202020204" pitchFamily="34" charset="0"/>
              <a:buChar char="•"/>
            </a:pPr>
            <a:r>
              <a:rPr lang="en-US" b="1" dirty="0">
                <a:latin typeface="Book Antiqua" panose="02040602050305030304" pitchFamily="18" charset="0"/>
              </a:rPr>
              <a:t>Input vs. Output Limit:</a:t>
            </a:r>
            <a:r>
              <a:rPr lang="en-US" dirty="0">
                <a:latin typeface="Book Antiqua" panose="02040602050305030304" pitchFamily="18" charset="0"/>
              </a:rPr>
              <a:t> The plot shows that yield hits a ceiling (around 5-6 </a:t>
            </a:r>
            <a:r>
              <a:rPr lang="en-US" dirty="0" err="1">
                <a:latin typeface="Book Antiqua" panose="02040602050305030304" pitchFamily="18" charset="0"/>
              </a:rPr>
              <a:t>tonnes</a:t>
            </a:r>
            <a:r>
              <a:rPr lang="en-US" dirty="0">
                <a:latin typeface="Book Antiqua" panose="02040602050305030304" pitchFamily="18" charset="0"/>
              </a:rPr>
              <a:t>) regardless of excess rainfall, proving that simply adding more water does not guarantee more harvest.</a:t>
            </a:r>
          </a:p>
        </p:txBody>
      </p:sp>
    </p:spTree>
    <p:extLst>
      <p:ext uri="{BB962C8B-B14F-4D97-AF65-F5344CB8AC3E}">
        <p14:creationId xmlns:p14="http://schemas.microsoft.com/office/powerpoint/2010/main" val="1801786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p:cTn id="21" dur="500" fill="hold"/>
                                        <p:tgtEl>
                                          <p:spTgt spid="2"/>
                                        </p:tgtEl>
                                        <p:attrNameLst>
                                          <p:attrName>ppt_w</p:attrName>
                                        </p:attrNameLst>
                                      </p:cBhvr>
                                      <p:tavLst>
                                        <p:tav tm="0">
                                          <p:val>
                                            <p:fltVal val="0"/>
                                          </p:val>
                                        </p:tav>
                                        <p:tav tm="100000">
                                          <p:val>
                                            <p:strVal val="#ppt_w"/>
                                          </p:val>
                                        </p:tav>
                                      </p:tavLst>
                                    </p:anim>
                                    <p:anim calcmode="lin" valueType="num">
                                      <p:cBhvr>
                                        <p:cTn id="22" dur="500" fill="hold"/>
                                        <p:tgtEl>
                                          <p:spTgt spid="2"/>
                                        </p:tgtEl>
                                        <p:attrNameLst>
                                          <p:attrName>ppt_h</p:attrName>
                                        </p:attrNameLst>
                                      </p:cBhvr>
                                      <p:tavLst>
                                        <p:tav tm="0">
                                          <p:val>
                                            <p:fltVal val="0"/>
                                          </p:val>
                                        </p:tav>
                                        <p:tav tm="100000">
                                          <p:val>
                                            <p:strVal val="#ppt_h"/>
                                          </p:val>
                                        </p:tav>
                                      </p:tavLst>
                                    </p:anim>
                                    <p:animEffect transition="in" filter="fade">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p:cTn id="28" dur="500" fill="hold"/>
                                        <p:tgtEl>
                                          <p:spTgt spid="3"/>
                                        </p:tgtEl>
                                        <p:attrNameLst>
                                          <p:attrName>ppt_w</p:attrName>
                                        </p:attrNameLst>
                                      </p:cBhvr>
                                      <p:tavLst>
                                        <p:tav tm="0">
                                          <p:val>
                                            <p:fltVal val="0"/>
                                          </p:val>
                                        </p:tav>
                                        <p:tav tm="100000">
                                          <p:val>
                                            <p:strVal val="#ppt_w"/>
                                          </p:val>
                                        </p:tav>
                                      </p:tavLst>
                                    </p:anim>
                                    <p:anim calcmode="lin" valueType="num">
                                      <p:cBhvr>
                                        <p:cTn id="29" dur="500" fill="hold"/>
                                        <p:tgtEl>
                                          <p:spTgt spid="3"/>
                                        </p:tgtEl>
                                        <p:attrNameLst>
                                          <p:attrName>ppt_h</p:attrName>
                                        </p:attrNameLst>
                                      </p:cBhvr>
                                      <p:tavLst>
                                        <p:tav tm="0">
                                          <p:val>
                                            <p:fltVal val="0"/>
                                          </p:val>
                                        </p:tav>
                                        <p:tav tm="100000">
                                          <p:val>
                                            <p:strVal val="#ppt_h"/>
                                          </p:val>
                                        </p:tav>
                                      </p:tavLst>
                                    </p:anim>
                                    <p:animEffect transition="in" filter="fade">
                                      <p:cBhvr>
                                        <p:cTn id="30" dur="500"/>
                                        <p:tgtEl>
                                          <p:spTgt spid="3"/>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1000"/>
                                        <p:tgtEl>
                                          <p:spTgt spid="6"/>
                                        </p:tgtEl>
                                      </p:cBhvr>
                                    </p:animEffect>
                                    <p:anim calcmode="lin" valueType="num">
                                      <p:cBhvr>
                                        <p:cTn id="36" dur="1000" fill="hold"/>
                                        <p:tgtEl>
                                          <p:spTgt spid="6"/>
                                        </p:tgtEl>
                                        <p:attrNameLst>
                                          <p:attrName>ppt_x</p:attrName>
                                        </p:attrNameLst>
                                      </p:cBhvr>
                                      <p:tavLst>
                                        <p:tav tm="0">
                                          <p:val>
                                            <p:strVal val="#ppt_x"/>
                                          </p:val>
                                        </p:tav>
                                        <p:tav tm="100000">
                                          <p:val>
                                            <p:strVal val="#ppt_x"/>
                                          </p:val>
                                        </p:tav>
                                      </p:tavLst>
                                    </p:anim>
                                    <p:anim calcmode="lin" valueType="num">
                                      <p:cBhvr>
                                        <p:cTn id="37"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2" grpId="0"/>
      <p:bldP spid="3" grpId="0"/>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3BA03-1BB5-37F9-8DCD-5F95C6345D2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3A7713C-1F31-6FC8-F549-AF08D09E031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30">
            <a:extLst>
              <a:ext uri="{FF2B5EF4-FFF2-40B4-BE49-F238E27FC236}">
                <a16:creationId xmlns:a16="http://schemas.microsoft.com/office/drawing/2014/main" id="{E5F1EEE6-7967-D35C-F8B0-F9711AE97B76}"/>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8B3B54B-9FA8-24E8-177C-C4DE5C6A4DE9}"/>
              </a:ext>
            </a:extLst>
          </p:cNvPr>
          <p:cNvSpPr txBox="1">
            <a:spLocks/>
          </p:cNvSpPr>
          <p:nvPr/>
        </p:nvSpPr>
        <p:spPr>
          <a:xfrm>
            <a:off x="4334133" y="1231842"/>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itle 3">
            <a:extLst>
              <a:ext uri="{FF2B5EF4-FFF2-40B4-BE49-F238E27FC236}">
                <a16:creationId xmlns:a16="http://schemas.microsoft.com/office/drawing/2014/main" id="{E6781C40-AC62-FE30-6697-35E813B99CA5}"/>
              </a:ext>
            </a:extLst>
          </p:cNvPr>
          <p:cNvSpPr txBox="1">
            <a:spLocks/>
          </p:cNvSpPr>
          <p:nvPr/>
        </p:nvSpPr>
        <p:spPr>
          <a:xfrm>
            <a:off x="501940" y="320325"/>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RESULTS </a:t>
            </a:r>
            <a:endParaRPr lang="en-IN" dirty="0"/>
          </a:p>
        </p:txBody>
      </p:sp>
      <p:sp>
        <p:nvSpPr>
          <p:cNvPr id="3" name="Title 3">
            <a:extLst>
              <a:ext uri="{FF2B5EF4-FFF2-40B4-BE49-F238E27FC236}">
                <a16:creationId xmlns:a16="http://schemas.microsoft.com/office/drawing/2014/main" id="{59C0E0D1-52A1-A55A-3B9D-269D518C6CC8}"/>
              </a:ext>
            </a:extLst>
          </p:cNvPr>
          <p:cNvSpPr txBox="1">
            <a:spLocks/>
          </p:cNvSpPr>
          <p:nvPr/>
        </p:nvSpPr>
        <p:spPr>
          <a:xfrm>
            <a:off x="501940" y="983743"/>
            <a:ext cx="5582499" cy="496198"/>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dirty="0"/>
              <a:t>📌 Multivariate Analysis</a:t>
            </a:r>
            <a:endParaRPr lang="en-IN" sz="2800" dirty="0"/>
          </a:p>
        </p:txBody>
      </p:sp>
      <p:sp>
        <p:nvSpPr>
          <p:cNvPr id="11" name="Rectangle 10">
            <a:extLst>
              <a:ext uri="{FF2B5EF4-FFF2-40B4-BE49-F238E27FC236}">
                <a16:creationId xmlns:a16="http://schemas.microsoft.com/office/drawing/2014/main" id="{AA3114E1-E33A-F8A6-EA97-0009A54E8F2A}"/>
              </a:ext>
            </a:extLst>
          </p:cNvPr>
          <p:cNvSpPr/>
          <p:nvPr/>
        </p:nvSpPr>
        <p:spPr>
          <a:xfrm>
            <a:off x="6442364" y="1385455"/>
            <a:ext cx="955963" cy="1011381"/>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4EEFABE6-3899-3248-BEED-B4D5B1B0E737}"/>
              </a:ext>
            </a:extLst>
          </p:cNvPr>
          <p:cNvPicPr>
            <a:picLocks noChangeAspect="1"/>
          </p:cNvPicPr>
          <p:nvPr/>
        </p:nvPicPr>
        <p:blipFill>
          <a:blip r:embed="rId3"/>
          <a:stretch>
            <a:fillRect/>
          </a:stretch>
        </p:blipFill>
        <p:spPr>
          <a:xfrm>
            <a:off x="780449" y="1479941"/>
            <a:ext cx="6326921" cy="4973901"/>
          </a:xfrm>
          <a:prstGeom prst="rect">
            <a:avLst/>
          </a:prstGeom>
          <a:ln>
            <a:solidFill>
              <a:schemeClr val="tx1"/>
            </a:solidFill>
          </a:ln>
        </p:spPr>
      </p:pic>
      <p:sp>
        <p:nvSpPr>
          <p:cNvPr id="6" name="Text Placeholder 30">
            <a:extLst>
              <a:ext uri="{FF2B5EF4-FFF2-40B4-BE49-F238E27FC236}">
                <a16:creationId xmlns:a16="http://schemas.microsoft.com/office/drawing/2014/main" id="{865E261E-256B-270C-6E9C-098F68E3CF74}"/>
              </a:ext>
            </a:extLst>
          </p:cNvPr>
          <p:cNvSpPr txBox="1">
            <a:spLocks/>
          </p:cNvSpPr>
          <p:nvPr/>
        </p:nvSpPr>
        <p:spPr>
          <a:xfrm>
            <a:off x="7342932" y="1479941"/>
            <a:ext cx="4403422" cy="4973901"/>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285750" lvl="0" indent="-285750" algn="l">
              <a:lnSpc>
                <a:spcPct val="150000"/>
              </a:lnSpc>
              <a:buFont typeface="Arial" panose="020B0604020202020204" pitchFamily="34" charset="0"/>
              <a:buChar char="•"/>
            </a:pPr>
            <a:r>
              <a:rPr lang="en-US" sz="1800" b="1" dirty="0">
                <a:latin typeface="Book Antiqua" panose="02040602050305030304" pitchFamily="18" charset="0"/>
              </a:rPr>
              <a:t>Multi-dimensional Clustering:</a:t>
            </a:r>
            <a:r>
              <a:rPr lang="en-US" sz="1800" dirty="0">
                <a:latin typeface="Book Antiqua" panose="02040602050305030304" pitchFamily="18" charset="0"/>
              </a:rPr>
              <a:t> The </a:t>
            </a:r>
            <a:r>
              <a:rPr lang="en-US" sz="1800" dirty="0" err="1">
                <a:latin typeface="Book Antiqua" panose="02040602050305030304" pitchFamily="18" charset="0"/>
              </a:rPr>
              <a:t>pairplot</a:t>
            </a:r>
            <a:r>
              <a:rPr lang="en-US" sz="1800" dirty="0">
                <a:latin typeface="Book Antiqua" panose="02040602050305030304" pitchFamily="18" charset="0"/>
              </a:rPr>
              <a:t> proves that each agricultural season operates within its own distinct, non-overlapping environmental identity (Temperature and Rainfall combinations).</a:t>
            </a:r>
          </a:p>
          <a:p>
            <a:pPr marL="285750" lvl="0" indent="-285750" algn="l">
              <a:lnSpc>
                <a:spcPct val="150000"/>
              </a:lnSpc>
              <a:buFont typeface="Arial" panose="020B0604020202020204" pitchFamily="34" charset="0"/>
              <a:buChar char="•"/>
            </a:pPr>
            <a:r>
              <a:rPr lang="en-US" sz="1800" b="1" dirty="0">
                <a:latin typeface="Book Antiqua" panose="02040602050305030304" pitchFamily="18" charset="0"/>
              </a:rPr>
              <a:t>Scaling Profitability:</a:t>
            </a:r>
            <a:r>
              <a:rPr lang="en-US" sz="1800" dirty="0">
                <a:latin typeface="Book Antiqua" panose="02040602050305030304" pitchFamily="18" charset="0"/>
              </a:rPr>
              <a:t> The steep upward trend in the 'Yield vs. Profit' grid highlights how rapidly Kharif profits scale up compared to other seasons as production increases.</a:t>
            </a:r>
          </a:p>
        </p:txBody>
      </p:sp>
    </p:spTree>
    <p:extLst>
      <p:ext uri="{BB962C8B-B14F-4D97-AF65-F5344CB8AC3E}">
        <p14:creationId xmlns:p14="http://schemas.microsoft.com/office/powerpoint/2010/main" val="2089778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p:cTn id="21" dur="500" fill="hold"/>
                                        <p:tgtEl>
                                          <p:spTgt spid="2"/>
                                        </p:tgtEl>
                                        <p:attrNameLst>
                                          <p:attrName>ppt_w</p:attrName>
                                        </p:attrNameLst>
                                      </p:cBhvr>
                                      <p:tavLst>
                                        <p:tav tm="0">
                                          <p:val>
                                            <p:fltVal val="0"/>
                                          </p:val>
                                        </p:tav>
                                        <p:tav tm="100000">
                                          <p:val>
                                            <p:strVal val="#ppt_w"/>
                                          </p:val>
                                        </p:tav>
                                      </p:tavLst>
                                    </p:anim>
                                    <p:anim calcmode="lin" valueType="num">
                                      <p:cBhvr>
                                        <p:cTn id="22" dur="500" fill="hold"/>
                                        <p:tgtEl>
                                          <p:spTgt spid="2"/>
                                        </p:tgtEl>
                                        <p:attrNameLst>
                                          <p:attrName>ppt_h</p:attrName>
                                        </p:attrNameLst>
                                      </p:cBhvr>
                                      <p:tavLst>
                                        <p:tav tm="0">
                                          <p:val>
                                            <p:fltVal val="0"/>
                                          </p:val>
                                        </p:tav>
                                        <p:tav tm="100000">
                                          <p:val>
                                            <p:strVal val="#ppt_h"/>
                                          </p:val>
                                        </p:tav>
                                      </p:tavLst>
                                    </p:anim>
                                    <p:animEffect transition="in" filter="fade">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p:cTn id="28" dur="500" fill="hold"/>
                                        <p:tgtEl>
                                          <p:spTgt spid="3"/>
                                        </p:tgtEl>
                                        <p:attrNameLst>
                                          <p:attrName>ppt_w</p:attrName>
                                        </p:attrNameLst>
                                      </p:cBhvr>
                                      <p:tavLst>
                                        <p:tav tm="0">
                                          <p:val>
                                            <p:fltVal val="0"/>
                                          </p:val>
                                        </p:tav>
                                        <p:tav tm="100000">
                                          <p:val>
                                            <p:strVal val="#ppt_w"/>
                                          </p:val>
                                        </p:tav>
                                      </p:tavLst>
                                    </p:anim>
                                    <p:anim calcmode="lin" valueType="num">
                                      <p:cBhvr>
                                        <p:cTn id="29" dur="500" fill="hold"/>
                                        <p:tgtEl>
                                          <p:spTgt spid="3"/>
                                        </p:tgtEl>
                                        <p:attrNameLst>
                                          <p:attrName>ppt_h</p:attrName>
                                        </p:attrNameLst>
                                      </p:cBhvr>
                                      <p:tavLst>
                                        <p:tav tm="0">
                                          <p:val>
                                            <p:fltVal val="0"/>
                                          </p:val>
                                        </p:tav>
                                        <p:tav tm="100000">
                                          <p:val>
                                            <p:strVal val="#ppt_h"/>
                                          </p:val>
                                        </p:tav>
                                      </p:tavLst>
                                    </p:anim>
                                    <p:animEffect transition="in" filter="fade">
                                      <p:cBhvr>
                                        <p:cTn id="30" dur="500"/>
                                        <p:tgtEl>
                                          <p:spTgt spid="3"/>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1000"/>
                                        <p:tgtEl>
                                          <p:spTgt spid="6"/>
                                        </p:tgtEl>
                                      </p:cBhvr>
                                    </p:animEffect>
                                    <p:anim calcmode="lin" valueType="num">
                                      <p:cBhvr>
                                        <p:cTn id="36" dur="1000" fill="hold"/>
                                        <p:tgtEl>
                                          <p:spTgt spid="6"/>
                                        </p:tgtEl>
                                        <p:attrNameLst>
                                          <p:attrName>ppt_x</p:attrName>
                                        </p:attrNameLst>
                                      </p:cBhvr>
                                      <p:tavLst>
                                        <p:tav tm="0">
                                          <p:val>
                                            <p:strVal val="#ppt_x"/>
                                          </p:val>
                                        </p:tav>
                                        <p:tav tm="100000">
                                          <p:val>
                                            <p:strVal val="#ppt_x"/>
                                          </p:val>
                                        </p:tav>
                                      </p:tavLst>
                                    </p:anim>
                                    <p:anim calcmode="lin" valueType="num">
                                      <p:cBhvr>
                                        <p:cTn id="37"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2" grpId="0"/>
      <p:bldP spid="3" grpId="0"/>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0889B-CCD9-94DF-6C49-49ADBC4E4C4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81E5CE3-1383-6032-FBA3-50529000D4D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30">
            <a:extLst>
              <a:ext uri="{FF2B5EF4-FFF2-40B4-BE49-F238E27FC236}">
                <a16:creationId xmlns:a16="http://schemas.microsoft.com/office/drawing/2014/main" id="{8F9DAFB4-1A89-6769-79CB-BE8238E9D010}"/>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4A06965-B84E-EFBD-AA61-28FF30112296}"/>
              </a:ext>
            </a:extLst>
          </p:cNvPr>
          <p:cNvSpPr txBox="1">
            <a:spLocks/>
          </p:cNvSpPr>
          <p:nvPr/>
        </p:nvSpPr>
        <p:spPr>
          <a:xfrm>
            <a:off x="4334133" y="1231842"/>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itle 3">
            <a:extLst>
              <a:ext uri="{FF2B5EF4-FFF2-40B4-BE49-F238E27FC236}">
                <a16:creationId xmlns:a16="http://schemas.microsoft.com/office/drawing/2014/main" id="{E28A465C-0B85-7F4F-2E64-1CB3E6044611}"/>
              </a:ext>
            </a:extLst>
          </p:cNvPr>
          <p:cNvSpPr txBox="1">
            <a:spLocks/>
          </p:cNvSpPr>
          <p:nvPr/>
        </p:nvSpPr>
        <p:spPr>
          <a:xfrm>
            <a:off x="501940" y="320325"/>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RESULTS </a:t>
            </a:r>
            <a:endParaRPr lang="en-IN" dirty="0"/>
          </a:p>
        </p:txBody>
      </p:sp>
      <p:sp>
        <p:nvSpPr>
          <p:cNvPr id="3" name="Title 3">
            <a:extLst>
              <a:ext uri="{FF2B5EF4-FFF2-40B4-BE49-F238E27FC236}">
                <a16:creationId xmlns:a16="http://schemas.microsoft.com/office/drawing/2014/main" id="{E1BCE138-F569-EDE0-6F73-03981BE4D897}"/>
              </a:ext>
            </a:extLst>
          </p:cNvPr>
          <p:cNvSpPr txBox="1">
            <a:spLocks/>
          </p:cNvSpPr>
          <p:nvPr/>
        </p:nvSpPr>
        <p:spPr>
          <a:xfrm>
            <a:off x="501940" y="1056836"/>
            <a:ext cx="5582499" cy="496198"/>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dirty="0"/>
              <a:t>📌 Student-Driven Analysis</a:t>
            </a:r>
            <a:endParaRPr lang="en-IN" sz="2800" dirty="0"/>
          </a:p>
        </p:txBody>
      </p:sp>
      <p:sp>
        <p:nvSpPr>
          <p:cNvPr id="11" name="Rectangle 10">
            <a:extLst>
              <a:ext uri="{FF2B5EF4-FFF2-40B4-BE49-F238E27FC236}">
                <a16:creationId xmlns:a16="http://schemas.microsoft.com/office/drawing/2014/main" id="{ED7196C0-DF3A-25AA-C4F8-4FA78F8F940C}"/>
              </a:ext>
            </a:extLst>
          </p:cNvPr>
          <p:cNvSpPr/>
          <p:nvPr/>
        </p:nvSpPr>
        <p:spPr>
          <a:xfrm>
            <a:off x="6442364" y="1385455"/>
            <a:ext cx="955963" cy="1011381"/>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A96F5884-6415-73D3-145A-03B1D4E755BA}"/>
              </a:ext>
            </a:extLst>
          </p:cNvPr>
          <p:cNvPicPr>
            <a:picLocks noChangeAspect="1"/>
          </p:cNvPicPr>
          <p:nvPr/>
        </p:nvPicPr>
        <p:blipFill>
          <a:blip r:embed="rId3"/>
          <a:stretch>
            <a:fillRect/>
          </a:stretch>
        </p:blipFill>
        <p:spPr>
          <a:xfrm>
            <a:off x="675957" y="1677084"/>
            <a:ext cx="7138007" cy="4406421"/>
          </a:xfrm>
          <a:prstGeom prst="rect">
            <a:avLst/>
          </a:prstGeom>
          <a:ln>
            <a:solidFill>
              <a:schemeClr val="tx1"/>
            </a:solidFill>
          </a:ln>
        </p:spPr>
      </p:pic>
      <p:sp>
        <p:nvSpPr>
          <p:cNvPr id="4" name="Text Placeholder 30">
            <a:extLst>
              <a:ext uri="{FF2B5EF4-FFF2-40B4-BE49-F238E27FC236}">
                <a16:creationId xmlns:a16="http://schemas.microsoft.com/office/drawing/2014/main" id="{776B16D0-5F61-E215-5DB4-519C15228523}"/>
              </a:ext>
            </a:extLst>
          </p:cNvPr>
          <p:cNvSpPr txBox="1">
            <a:spLocks/>
          </p:cNvSpPr>
          <p:nvPr/>
        </p:nvSpPr>
        <p:spPr>
          <a:xfrm>
            <a:off x="7930758" y="1677084"/>
            <a:ext cx="3940260" cy="4406421"/>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285750" lvl="0" indent="-285750" algn="l">
              <a:lnSpc>
                <a:spcPct val="150000"/>
              </a:lnSpc>
              <a:buFont typeface="Arial" panose="020B0604020202020204" pitchFamily="34" charset="0"/>
              <a:buChar char="•"/>
            </a:pPr>
            <a:r>
              <a:rPr lang="en-US" b="1" dirty="0">
                <a:latin typeface="Book Antiqua" panose="02040602050305030304" pitchFamily="18" charset="0"/>
              </a:rPr>
              <a:t>Geographical Variance:</a:t>
            </a:r>
            <a:r>
              <a:rPr lang="en-US" dirty="0">
                <a:latin typeface="Book Antiqua" panose="02040602050305030304" pitchFamily="18" charset="0"/>
              </a:rPr>
              <a:t> Uncovered stark regional economic disparities, with states like Maharashtra and Punjab significantly outperforming the national average.</a:t>
            </a:r>
          </a:p>
          <a:p>
            <a:pPr marL="285750" lvl="0" indent="-285750" algn="l">
              <a:lnSpc>
                <a:spcPct val="150000"/>
              </a:lnSpc>
              <a:buFont typeface="Arial" panose="020B0604020202020204" pitchFamily="34" charset="0"/>
              <a:buChar char="•"/>
            </a:pPr>
            <a:r>
              <a:rPr lang="en-US" b="1" dirty="0">
                <a:latin typeface="Book Antiqua" panose="02040602050305030304" pitchFamily="18" charset="0"/>
              </a:rPr>
              <a:t>Actionable Targeting:</a:t>
            </a:r>
            <a:r>
              <a:rPr lang="en-US" dirty="0">
                <a:latin typeface="Book Antiqua" panose="02040602050305030304" pitchFamily="18" charset="0"/>
              </a:rPr>
              <a:t> This insight allows policymakers and </a:t>
            </a:r>
            <a:r>
              <a:rPr lang="en-US" dirty="0" err="1">
                <a:latin typeface="Book Antiqua" panose="02040602050305030304" pitchFamily="18" charset="0"/>
              </a:rPr>
              <a:t>agri</a:t>
            </a:r>
            <a:r>
              <a:rPr lang="en-US" dirty="0">
                <a:latin typeface="Book Antiqua" panose="02040602050305030304" pitchFamily="18" charset="0"/>
              </a:rPr>
              <a:t>-tech firms to identify underperforming regions (like Andhra Pradesh) for targeted interventions and resource subsidies.</a:t>
            </a:r>
          </a:p>
        </p:txBody>
      </p:sp>
    </p:spTree>
    <p:extLst>
      <p:ext uri="{BB962C8B-B14F-4D97-AF65-F5344CB8AC3E}">
        <p14:creationId xmlns:p14="http://schemas.microsoft.com/office/powerpoint/2010/main" val="3817018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p:cTn id="21" dur="500" fill="hold"/>
                                        <p:tgtEl>
                                          <p:spTgt spid="2"/>
                                        </p:tgtEl>
                                        <p:attrNameLst>
                                          <p:attrName>ppt_w</p:attrName>
                                        </p:attrNameLst>
                                      </p:cBhvr>
                                      <p:tavLst>
                                        <p:tav tm="0">
                                          <p:val>
                                            <p:fltVal val="0"/>
                                          </p:val>
                                        </p:tav>
                                        <p:tav tm="100000">
                                          <p:val>
                                            <p:strVal val="#ppt_w"/>
                                          </p:val>
                                        </p:tav>
                                      </p:tavLst>
                                    </p:anim>
                                    <p:anim calcmode="lin" valueType="num">
                                      <p:cBhvr>
                                        <p:cTn id="22" dur="500" fill="hold"/>
                                        <p:tgtEl>
                                          <p:spTgt spid="2"/>
                                        </p:tgtEl>
                                        <p:attrNameLst>
                                          <p:attrName>ppt_h</p:attrName>
                                        </p:attrNameLst>
                                      </p:cBhvr>
                                      <p:tavLst>
                                        <p:tav tm="0">
                                          <p:val>
                                            <p:fltVal val="0"/>
                                          </p:val>
                                        </p:tav>
                                        <p:tav tm="100000">
                                          <p:val>
                                            <p:strVal val="#ppt_h"/>
                                          </p:val>
                                        </p:tav>
                                      </p:tavLst>
                                    </p:anim>
                                    <p:animEffect transition="in" filter="fade">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p:cTn id="28" dur="500" fill="hold"/>
                                        <p:tgtEl>
                                          <p:spTgt spid="3"/>
                                        </p:tgtEl>
                                        <p:attrNameLst>
                                          <p:attrName>ppt_w</p:attrName>
                                        </p:attrNameLst>
                                      </p:cBhvr>
                                      <p:tavLst>
                                        <p:tav tm="0">
                                          <p:val>
                                            <p:fltVal val="0"/>
                                          </p:val>
                                        </p:tav>
                                        <p:tav tm="100000">
                                          <p:val>
                                            <p:strVal val="#ppt_w"/>
                                          </p:val>
                                        </p:tav>
                                      </p:tavLst>
                                    </p:anim>
                                    <p:anim calcmode="lin" valueType="num">
                                      <p:cBhvr>
                                        <p:cTn id="29" dur="500" fill="hold"/>
                                        <p:tgtEl>
                                          <p:spTgt spid="3"/>
                                        </p:tgtEl>
                                        <p:attrNameLst>
                                          <p:attrName>ppt_h</p:attrName>
                                        </p:attrNameLst>
                                      </p:cBhvr>
                                      <p:tavLst>
                                        <p:tav tm="0">
                                          <p:val>
                                            <p:fltVal val="0"/>
                                          </p:val>
                                        </p:tav>
                                        <p:tav tm="100000">
                                          <p:val>
                                            <p:strVal val="#ppt_h"/>
                                          </p:val>
                                        </p:tav>
                                      </p:tavLst>
                                    </p:anim>
                                    <p:animEffect transition="in" filter="fade">
                                      <p:cBhvr>
                                        <p:cTn id="30" dur="500"/>
                                        <p:tgtEl>
                                          <p:spTgt spid="3"/>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fade">
                                      <p:cBhvr>
                                        <p:cTn id="35" dur="1000"/>
                                        <p:tgtEl>
                                          <p:spTgt spid="4"/>
                                        </p:tgtEl>
                                      </p:cBhvr>
                                    </p:animEffect>
                                    <p:anim calcmode="lin" valueType="num">
                                      <p:cBhvr>
                                        <p:cTn id="36" dur="1000" fill="hold"/>
                                        <p:tgtEl>
                                          <p:spTgt spid="4"/>
                                        </p:tgtEl>
                                        <p:attrNameLst>
                                          <p:attrName>ppt_x</p:attrName>
                                        </p:attrNameLst>
                                      </p:cBhvr>
                                      <p:tavLst>
                                        <p:tav tm="0">
                                          <p:val>
                                            <p:strVal val="#ppt_x"/>
                                          </p:val>
                                        </p:tav>
                                        <p:tav tm="100000">
                                          <p:val>
                                            <p:strVal val="#ppt_x"/>
                                          </p:val>
                                        </p:tav>
                                      </p:tavLst>
                                    </p:anim>
                                    <p:anim calcmode="lin" valueType="num">
                                      <p:cBhvr>
                                        <p:cTn id="37"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2" grpId="0"/>
      <p:bldP spid="3" grpId="0"/>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Rectangle 5">
            <a:extLst>
              <a:ext uri="{FF2B5EF4-FFF2-40B4-BE49-F238E27FC236}">
                <a16:creationId xmlns:a16="http://schemas.microsoft.com/office/drawing/2014/main" id="{A8714B41-DFB6-FCA4-C929-4D6A5DD48E74}"/>
              </a:ext>
            </a:extLst>
          </p:cNvPr>
          <p:cNvSpPr/>
          <p:nvPr/>
        </p:nvSpPr>
        <p:spPr>
          <a:xfrm>
            <a:off x="6442364" y="1385455"/>
            <a:ext cx="955963" cy="1011381"/>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DA958755-ECA6-6CF5-C54A-CFAF0B62018A}"/>
              </a:ext>
            </a:extLst>
          </p:cNvPr>
          <p:cNvSpPr txBox="1"/>
          <p:nvPr/>
        </p:nvSpPr>
        <p:spPr>
          <a:xfrm>
            <a:off x="675957" y="1275371"/>
            <a:ext cx="7851502" cy="5125121"/>
          </a:xfrm>
          <a:prstGeom prst="rect">
            <a:avLst/>
          </a:prstGeom>
          <a:noFill/>
        </p:spPr>
        <p:txBody>
          <a:bodyPr wrap="square" rtlCol="0">
            <a:spAutoFit/>
          </a:bodyPr>
          <a:lstStyle/>
          <a:p>
            <a:pPr marL="285750" lvl="0" indent="-285750">
              <a:lnSpc>
                <a:spcPct val="150000"/>
              </a:lnSpc>
              <a:buFont typeface="Arial" panose="020B0604020202020204" pitchFamily="34" charset="0"/>
              <a:buChar char="•"/>
            </a:pPr>
            <a:r>
              <a:rPr lang="en-US" sz="2000" b="1" dirty="0">
                <a:latin typeface="Book Antiqua" panose="02040602050305030304" pitchFamily="18" charset="0"/>
              </a:rPr>
              <a:t>Integration of Environmental Impact Data:</a:t>
            </a:r>
            <a:r>
              <a:rPr lang="en-US" sz="2000" dirty="0">
                <a:latin typeface="Book Antiqua" panose="02040602050305030304" pitchFamily="18" charset="0"/>
              </a:rPr>
              <a:t> Expanding the dataset to include soil health degradation and chemical residue metrics to study the long-term negative externalities (e.g., human disease risks) of high pesticide usage.</a:t>
            </a:r>
          </a:p>
          <a:p>
            <a:pPr marL="285750" lvl="0" indent="-285750">
              <a:lnSpc>
                <a:spcPct val="150000"/>
              </a:lnSpc>
              <a:buFont typeface="Arial" panose="020B0604020202020204" pitchFamily="34" charset="0"/>
              <a:buChar char="•"/>
            </a:pPr>
            <a:r>
              <a:rPr lang="en-US" sz="2000" b="1" dirty="0">
                <a:latin typeface="Book Antiqua" panose="02040602050305030304" pitchFamily="18" charset="0"/>
              </a:rPr>
              <a:t>Predictive Machine Learning Modeling:</a:t>
            </a:r>
            <a:r>
              <a:rPr lang="en-US" sz="2000" dirty="0">
                <a:latin typeface="Book Antiqua" panose="02040602050305030304" pitchFamily="18" charset="0"/>
              </a:rPr>
              <a:t> Transitioning from descriptive analytics to predictive modeling by using algorithms like Random Forest to forecast crop yields based on upcoming weather patterns.</a:t>
            </a:r>
          </a:p>
          <a:p>
            <a:pPr marL="285750" lvl="0" indent="-285750">
              <a:lnSpc>
                <a:spcPct val="150000"/>
              </a:lnSpc>
              <a:buFont typeface="Arial" panose="020B0604020202020204" pitchFamily="34" charset="0"/>
              <a:buChar char="•"/>
            </a:pPr>
            <a:r>
              <a:rPr lang="en-US" sz="2000" b="1" dirty="0">
                <a:latin typeface="Book Antiqua" panose="02040602050305030304" pitchFamily="18" charset="0"/>
              </a:rPr>
              <a:t>Cost Component Breakdown:</a:t>
            </a:r>
            <a:r>
              <a:rPr lang="en-US" sz="2000" dirty="0">
                <a:latin typeface="Book Antiqua" panose="02040602050305030304" pitchFamily="18" charset="0"/>
              </a:rPr>
              <a:t> Analyzing detailed cost variables (seeds, labor, equipment) to pinpoint exactly where farmers are losing their profit margins despite high revenues.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8EC60FE9-0062-4A69-72B8-FE1E98106556}"/>
              </a:ext>
            </a:extLst>
          </p:cNvPr>
          <p:cNvSpPr txBox="1"/>
          <p:nvPr/>
        </p:nvSpPr>
        <p:spPr>
          <a:xfrm>
            <a:off x="704272" y="1146745"/>
            <a:ext cx="7010400" cy="923330"/>
          </a:xfrm>
          <a:prstGeom prst="rect">
            <a:avLst/>
          </a:prstGeom>
          <a:noFill/>
        </p:spPr>
        <p:txBody>
          <a:bodyPr wrap="square" rtlCol="0">
            <a:spAutoFit/>
          </a:bodyPr>
          <a:lstStyle/>
          <a:p>
            <a:r>
              <a:rPr lang="en-US" dirty="0">
                <a:hlinkClick r:id="rId3"/>
              </a:rPr>
              <a:t>https://github.com/hey-Sudhanshu07/VOIS-Edunet-Internship/tree/main/Major%20Project%3A%20Seasonal_Agriculture_Analysis</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B3D21E48-AB94-E5A6-F0E0-A80CAE590694}"/>
              </a:ext>
            </a:extLst>
          </p:cNvPr>
          <p:cNvPicPr>
            <a:picLocks noChangeAspect="1"/>
          </p:cNvPicPr>
          <p:nvPr/>
        </p:nvPicPr>
        <p:blipFill>
          <a:blip r:embed="rId3"/>
          <a:stretch>
            <a:fillRect/>
          </a:stretch>
        </p:blipFill>
        <p:spPr>
          <a:xfrm>
            <a:off x="832478" y="1320689"/>
            <a:ext cx="7653415" cy="5448687"/>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1393</TotalTime>
  <Words>765</Words>
  <Application>Microsoft Office PowerPoint</Application>
  <PresentationFormat>Widescreen</PresentationFormat>
  <Paragraphs>50</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Book Antiqua</vt:lpstr>
      <vt:lpstr>Calibri</vt:lpstr>
      <vt:lpstr>Trebuchet MS</vt:lpstr>
      <vt:lpstr>Wingdings</vt:lpstr>
      <vt:lpstr>Wingdings 3</vt:lpstr>
      <vt:lpstr>Facet</vt:lpstr>
      <vt:lpstr>PowerPoint Presentation</vt:lpstr>
      <vt:lpstr>PROBLEM  STATEMENT</vt:lpstr>
      <vt:lpstr>Project Description  </vt:lpstr>
      <vt:lpstr>WHO ARE THE END USERS?</vt:lpstr>
      <vt:lpstr>Technology Used</vt:lpstr>
      <vt:lpstr>PowerPoint Presentation</vt:lpstr>
      <vt:lpstr>PowerPoint Presentation</vt:lpstr>
      <vt:lpstr>PowerPoint Presentation</vt:lpstr>
      <vt:lpstr>PowerPoint Presentation</vt:lpstr>
      <vt:lpstr>PowerPoint Presentation</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Divyanshu Tripathi</cp:lastModifiedBy>
  <cp:revision>102</cp:revision>
  <dcterms:created xsi:type="dcterms:W3CDTF">2021-07-11T13:13:15Z</dcterms:created>
  <dcterms:modified xsi:type="dcterms:W3CDTF">2026-09-09T15:42:54Z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