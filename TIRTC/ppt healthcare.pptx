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3" r:id="rId13"/>
    <p:sldId id="342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9" d="100"/>
          <a:sy n="69" d="100"/>
        </p:scale>
        <p:origin x="696" y="5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04-Oct-26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04-Oct-26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04-Oct-26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04-Oct-26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04-Oct-26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04-Oct-26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04-Oct-26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04-Oct-26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04-Oct-26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04-Oct-26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04-Oct-26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04-Oct-26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04-Oct-26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04-Oct-26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04-Oct-26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04-Oct-26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04-Oct-26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04-Oct-26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04-Oct-26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04-Oct-26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github.com/hey-Sudhanshu07/VOIS-Edunet-Internship/tree/52705c54109c8d849516af28e34f15ab6da43640/TIRTC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github.com/hey-Sudhanshu07/VOIS-Edunet-Internship/tree/52705c54109c8d849516af28e34f15ab6da43640/TIRTC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github.com/hey-Sudhanshu07/VOIS-Edunet-Internship/tree/52705c54109c8d849516af28e34f15ab6da43640/TIRTC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github.com/hey-Sudhanshu07/VOIS-Edunet-Internship/tree/52705c54109c8d849516af28e34f15ab6da43640/TIRTC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github.com/hey-Sudhanshu07/VOIS-Edunet-Internship/tree/52705c54109c8d849516af28e34f15ab6da43640/TIRTC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/>
        </p:nvSpPr>
        <p:spPr>
          <a:xfrm>
            <a:off x="5581434" y="4012793"/>
            <a:ext cx="5195459" cy="6378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Book Antiqua" panose="02040602050305030304" pitchFamily="18" charset="0"/>
              </a:rPr>
              <a:t>Student Name: </a:t>
            </a:r>
            <a:r>
              <a:rPr lang="en-US" sz="2400" b="0" dirty="0">
                <a:solidFill>
                  <a:schemeClr val="tx1"/>
                </a:solidFill>
                <a:latin typeface="Book Antiqua" panose="02040602050305030304" pitchFamily="18" charset="0"/>
              </a:rPr>
              <a:t>Sudhanshu Tripathi</a:t>
            </a:r>
            <a:endParaRPr lang="en-IN" sz="2400" b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/>
        </p:nvSpPr>
        <p:spPr>
          <a:xfrm>
            <a:off x="5474386" y="2252642"/>
            <a:ext cx="5991446" cy="102515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200" b="1" dirty="0">
                <a:latin typeface="Book Antiqua" panose="02040602050305030304" pitchFamily="18" charset="0"/>
              </a:rPr>
              <a:t>Project Title -</a:t>
            </a:r>
            <a:r>
              <a:rPr lang="en-GB" sz="3200" dirty="0">
                <a:latin typeface="Book Antiqua" panose="02040602050305030304" pitchFamily="18" charset="0"/>
              </a:rPr>
              <a:t> </a:t>
            </a:r>
            <a:r>
              <a:rPr lang="en-US" sz="3200" dirty="0"/>
              <a:t>Healthcare Analytics for Doctor Visits</a:t>
            </a:r>
            <a:endParaRPr lang="en-IN" sz="3200" dirty="0">
              <a:latin typeface="Book Antiqua" panose="02040602050305030304" pitchFamily="18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97773FF-D971-8981-0D21-4D6A05CC7A96}"/>
              </a:ext>
            </a:extLst>
          </p:cNvPr>
          <p:cNvSpPr txBox="1"/>
          <p:nvPr/>
        </p:nvSpPr>
        <p:spPr>
          <a:xfrm>
            <a:off x="4561828" y="3364497"/>
            <a:ext cx="7234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Book Antiqua" panose="02040602050305030304" pitchFamily="18" charset="0"/>
              </a:rPr>
              <a:t>AICTE Student ID: </a:t>
            </a:r>
            <a:r>
              <a:rPr lang="en-US" sz="2400" dirty="0">
                <a:latin typeface="Book Antiqua" panose="02040602050305030304" pitchFamily="18" charset="0"/>
              </a:rPr>
              <a:t>STU6a59002fa26dd1784217647</a:t>
            </a:r>
            <a:r>
              <a:rPr lang="en-US" sz="2400" b="1" dirty="0">
                <a:latin typeface="Book Antiqua" panose="02040602050305030304" pitchFamily="18" charset="0"/>
              </a:rPr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8F2D45-C893-927B-CD01-AE1AA830C953}"/>
              </a:ext>
            </a:extLst>
          </p:cNvPr>
          <p:cNvCxnSpPr>
            <a:cxnSpLocks/>
          </p:cNvCxnSpPr>
          <p:nvPr/>
        </p:nvCxnSpPr>
        <p:spPr>
          <a:xfrm>
            <a:off x="6733309" y="3224749"/>
            <a:ext cx="258146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620A38-99BA-9EB5-03C3-1F5EA48F330B}"/>
              </a:ext>
            </a:extLst>
          </p:cNvPr>
          <p:cNvCxnSpPr>
            <a:cxnSpLocks/>
          </p:cNvCxnSpPr>
          <p:nvPr/>
        </p:nvCxnSpPr>
        <p:spPr>
          <a:xfrm>
            <a:off x="6733309" y="3929599"/>
            <a:ext cx="258146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0677" y="2102230"/>
            <a:ext cx="6431280" cy="3071369"/>
          </a:xfrm>
        </p:spPr>
        <p:txBody>
          <a:bodyPr/>
          <a:lstStyle/>
          <a:p>
            <a:pPr lvl="0"/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Why do some people visit a doctor more often than others? 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The primary objective is to analyze patient-related data to identify meaningful patterns driving doctor visit frequencies. 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This involves investigating how age, health condition, income, and chronic conditions influence healthcare utilization.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24956D-BA96-8167-7F06-0ED16BFD2AE5}"/>
              </a:ext>
            </a:extLst>
          </p:cNvPr>
          <p:cNvSpPr txBox="1"/>
          <p:nvPr/>
        </p:nvSpPr>
        <p:spPr>
          <a:xfrm>
            <a:off x="845127" y="1939636"/>
            <a:ext cx="6719455" cy="3780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Analyzed a comprehensive healthcare dataset consisting of 5,190 patient records across 13 distinct variables.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Evaluated variables categorized under Personal Information, Financial Information, Health Information, and Healthcare Support.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Performed end-to-end data processing, including removing non-essential identifiers (Unnamed: 0), followed by Univariate, Bivariate, and Multivariate visualizations to extract actionable insights. 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92500"/>
          </a:bodyPr>
          <a:lstStyle/>
          <a:p>
            <a:pPr lvl="0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Hospitals &amp; Clinic Administrators:</a:t>
            </a:r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 To anticipate patient inflow and resource requirements based on chronic illness trends (</a:t>
            </a:r>
            <a:r>
              <a:rPr lang="en-US" dirty="0" err="1">
                <a:solidFill>
                  <a:schemeClr val="tx1"/>
                </a:solidFill>
                <a:latin typeface="Book Antiqua" panose="02040602050305030304" pitchFamily="18" charset="0"/>
              </a:rPr>
              <a:t>nchronic</a:t>
            </a:r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Book Antiqua" panose="02040602050305030304" pitchFamily="18" charset="0"/>
              </a:rPr>
              <a:t>lchronic</a:t>
            </a:r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). </a:t>
            </a:r>
          </a:p>
          <a:p>
            <a:pPr lvl="0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Health Insurance Providers:</a:t>
            </a:r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 To evaluate healthcare usage patterns among patients carrying private insurance coverage (private). </a:t>
            </a:r>
          </a:p>
          <a:p>
            <a:pPr lvl="0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Public Health Policymakers:</a:t>
            </a:r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 To assess the effectiveness and utilization of free healthcare support programs (</a:t>
            </a:r>
            <a:r>
              <a:rPr lang="en-US" dirty="0" err="1">
                <a:solidFill>
                  <a:schemeClr val="tx1"/>
                </a:solidFill>
                <a:latin typeface="Book Antiqua" panose="02040602050305030304" pitchFamily="18" charset="0"/>
              </a:rPr>
              <a:t>freepoor</a:t>
            </a:r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Book Antiqua" panose="02040602050305030304" pitchFamily="18" charset="0"/>
              </a:rPr>
              <a:t>freerepat</a:t>
            </a:r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) by lower-income demographic groups.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2436125"/>
          </a:xfrm>
        </p:spPr>
        <p:txBody>
          <a:bodyPr/>
          <a:lstStyle/>
          <a:p>
            <a:pPr lvl="0"/>
            <a:r>
              <a:rPr lang="en-US" b="1" dirty="0">
                <a:latin typeface="Book Antiqua" panose="02040602050305030304" pitchFamily="18" charset="0"/>
              </a:rPr>
              <a:t>Programming Language:</a:t>
            </a:r>
            <a:r>
              <a:rPr lang="en-US" dirty="0">
                <a:latin typeface="Book Antiqua" panose="02040602050305030304" pitchFamily="18" charset="0"/>
              </a:rPr>
              <a:t> Python 3</a:t>
            </a:r>
          </a:p>
          <a:p>
            <a:pPr lvl="0"/>
            <a:r>
              <a:rPr lang="en-US" b="1" dirty="0">
                <a:latin typeface="Book Antiqua" panose="02040602050305030304" pitchFamily="18" charset="0"/>
              </a:rPr>
              <a:t>Data Manipulation:</a:t>
            </a:r>
            <a:r>
              <a:rPr lang="en-US" dirty="0">
                <a:latin typeface="Book Antiqua" panose="02040602050305030304" pitchFamily="18" charset="0"/>
              </a:rPr>
              <a:t> Pandas, NumPy</a:t>
            </a:r>
          </a:p>
          <a:p>
            <a:pPr lvl="0"/>
            <a:r>
              <a:rPr lang="en-US" b="1" dirty="0">
                <a:latin typeface="Book Antiqua" panose="02040602050305030304" pitchFamily="18" charset="0"/>
              </a:rPr>
              <a:t>Data Visualization:</a:t>
            </a:r>
            <a:r>
              <a:rPr lang="en-US" dirty="0">
                <a:latin typeface="Book Antiqua" panose="02040602050305030304" pitchFamily="18" charset="0"/>
              </a:rPr>
              <a:t> Matplotlib, Seaborn</a:t>
            </a:r>
          </a:p>
          <a:p>
            <a:pPr lvl="0"/>
            <a:r>
              <a:rPr lang="en-US" b="1" dirty="0">
                <a:latin typeface="Book Antiqua" panose="02040602050305030304" pitchFamily="18" charset="0"/>
              </a:rPr>
              <a:t>Environment:</a:t>
            </a:r>
            <a:r>
              <a:rPr lang="en-US" dirty="0">
                <a:latin typeface="Book Antiqua" panose="02040602050305030304" pitchFamily="18" charset="0"/>
              </a:rPr>
              <a:t> Google </a:t>
            </a:r>
            <a:r>
              <a:rPr lang="en-US" dirty="0" err="1">
                <a:latin typeface="Book Antiqua" panose="02040602050305030304" pitchFamily="18" charset="0"/>
              </a:rPr>
              <a:t>Colab</a:t>
            </a:r>
            <a:r>
              <a:rPr lang="en-US" dirty="0">
                <a:latin typeface="Book Antiqua" panose="02040602050305030304" pitchFamily="18" charset="0"/>
              </a:rPr>
              <a:t> / Jupyter Notebook</a:t>
            </a:r>
          </a:p>
          <a:p>
            <a:pPr lvl="1">
              <a:lnSpc>
                <a:spcPct val="150000"/>
              </a:lnSpc>
            </a:pPr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3C3D4-BB0D-CE1B-F7B9-3E7A9BFFDF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04860" y="2417619"/>
            <a:ext cx="4275138" cy="2498933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The univariate analysis reveals a right-skewed distribution, indicating a significant majority of individuals recorded zero doctor visits during the monitored period.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A74DF-87FB-3F42-D8EC-E209ED636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59" y="1688979"/>
            <a:ext cx="6537973" cy="43799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424E6A-3625-7F06-8D47-4659CAA0B598}"/>
              </a:ext>
            </a:extLst>
          </p:cNvPr>
          <p:cNvSpPr txBox="1"/>
          <p:nvPr/>
        </p:nvSpPr>
        <p:spPr>
          <a:xfrm>
            <a:off x="3837710" y="989229"/>
            <a:ext cx="3713018" cy="4616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ook Antiqua" panose="02040602050305030304" pitchFamily="18" charset="0"/>
              </a:rPr>
              <a:t>Doctor Visits Distribution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DBF7A1-3A22-B24C-F848-8499039428A4}"/>
              </a:ext>
            </a:extLst>
          </p:cNvPr>
          <p:cNvSpPr txBox="1"/>
          <p:nvPr/>
        </p:nvSpPr>
        <p:spPr>
          <a:xfrm>
            <a:off x="422959" y="6287254"/>
            <a:ext cx="157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Link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7BEA-C9CC-97D9-0B03-379964B1F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FEC591-927D-DFF4-F51E-595AE8A541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FAA94C6-6FA6-E8F0-2751-4D21331EA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9924E27-67C5-0D99-45B3-2749C5E3904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7D71CF3-35F5-E536-567E-D9C4F45E2B4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07F85-0F9B-3178-ED46-08812CAA1D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04860" y="2417620"/>
            <a:ext cx="4275138" cy="2168236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Book Antiqua" panose="02040602050305030304" pitchFamily="18" charset="0"/>
              </a:rPr>
              <a:t>Bivariate analysis indicates that females generally maintain a slightly higher average frequency of doctor visits compared to males. </a:t>
            </a:r>
            <a:endParaRPr lang="en-US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A6EAC1-88FF-EA45-901F-8E87B96FD697}"/>
              </a:ext>
            </a:extLst>
          </p:cNvPr>
          <p:cNvSpPr txBox="1"/>
          <p:nvPr/>
        </p:nvSpPr>
        <p:spPr>
          <a:xfrm>
            <a:off x="3837710" y="989229"/>
            <a:ext cx="2258290" cy="4616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Gender Trends</a:t>
            </a:r>
            <a:endParaRPr lang="en-US" sz="2400" dirty="0">
              <a:latin typeface="Book Antiqua" panose="0204060205030503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003281-7F49-01B0-1B59-F32E9C7AF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23" y="1724696"/>
            <a:ext cx="6537973" cy="43799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5C97DEA-A730-54F0-8387-29E798372500}"/>
              </a:ext>
            </a:extLst>
          </p:cNvPr>
          <p:cNvSpPr txBox="1"/>
          <p:nvPr/>
        </p:nvSpPr>
        <p:spPr>
          <a:xfrm>
            <a:off x="422959" y="6287254"/>
            <a:ext cx="157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Link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67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ADDEC-8969-0CA2-1243-458374A3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074EC6-F1BC-4AA7-A0D2-9362F913ED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D4E6BC4-4EED-E5BE-FB8D-1D83C0F29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2AEA7EF-82AD-F867-E414-403D3E3A2BB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F1F7EC2E-9F68-766B-AE15-37A0DE51806D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E77CF-A298-C195-B9F8-D5413F8BF5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04860" y="2417619"/>
            <a:ext cx="4275138" cy="2498933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Book Antiqua" panose="02040602050305030304" pitchFamily="18" charset="0"/>
              </a:rPr>
              <a:t>The bar chart demonstrates a direct positive trend: as the number of reported illnesses increases, the average number of doctor visits rises proportionally. </a:t>
            </a:r>
            <a:endParaRPr lang="en-US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463E94-C594-B7D4-FFFB-D614196F0E2A}"/>
              </a:ext>
            </a:extLst>
          </p:cNvPr>
          <p:cNvSpPr txBox="1"/>
          <p:nvPr/>
        </p:nvSpPr>
        <p:spPr>
          <a:xfrm>
            <a:off x="3837710" y="989229"/>
            <a:ext cx="2507672" cy="4616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Impact of Illness</a:t>
            </a:r>
            <a:endParaRPr lang="en-US" sz="2400" dirty="0">
              <a:latin typeface="Book Antiqua" panose="0204060205030503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A4F595-6620-2FB1-2D3C-ED3A6511A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69" y="1524679"/>
            <a:ext cx="6409957" cy="43799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EE608E-3486-8B16-352C-485ED89ACA69}"/>
              </a:ext>
            </a:extLst>
          </p:cNvPr>
          <p:cNvSpPr txBox="1"/>
          <p:nvPr/>
        </p:nvSpPr>
        <p:spPr>
          <a:xfrm>
            <a:off x="422959" y="6287254"/>
            <a:ext cx="157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Link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10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19D89-7CD6-35A6-6F27-FE6C5E018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040F7C-F076-3AA9-A504-348A4DFB2B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1F31F50-25A1-410B-B906-70D7C5299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47B7FB2-C793-9F6B-CD9B-D20C0913488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C5AD96A-8E52-8B3D-E26B-A7CD48D0FF9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A3E3B-7023-2150-E7EF-B40B06F90B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04860" y="2417619"/>
            <a:ext cx="4275138" cy="2498933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Book Antiqua" panose="02040602050305030304" pitchFamily="18" charset="0"/>
              </a:rPr>
              <a:t>Patients with private healthcare coverage exhibit distinct visit patterns, highlighting the role of financial safety nets in medical accessibility.</a:t>
            </a:r>
            <a:endParaRPr lang="en-US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E71AB8-00CA-1039-E75E-278DDB5BA0AA}"/>
              </a:ext>
            </a:extLst>
          </p:cNvPr>
          <p:cNvSpPr txBox="1"/>
          <p:nvPr/>
        </p:nvSpPr>
        <p:spPr>
          <a:xfrm>
            <a:off x="3837710" y="989229"/>
            <a:ext cx="2981643" cy="4616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Healthcare Support</a:t>
            </a:r>
            <a:endParaRPr lang="en-US" sz="2400" dirty="0">
              <a:latin typeface="Book Antiqua" panose="0204060205030503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27A9FC-B9ED-87CA-7BF0-3C220B8B8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83" y="1608410"/>
            <a:ext cx="6492253" cy="43799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FA5795-E515-7E13-91A5-0DCB850D587B}"/>
              </a:ext>
            </a:extLst>
          </p:cNvPr>
          <p:cNvSpPr txBox="1"/>
          <p:nvPr/>
        </p:nvSpPr>
        <p:spPr>
          <a:xfrm>
            <a:off x="422959" y="6287254"/>
            <a:ext cx="157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Link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90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6E148-2442-15A0-BCC6-F16110296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A915C7-4371-3A06-8870-92425C498C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6AF774D-50BC-F3DD-5444-982D1EE1B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EF62C467-9A5F-3015-E6BE-4175B3F45C43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3615892-CA97-BB68-6323-2839541013B3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C65C5-B97D-F8D7-D253-BF945F58F8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04860" y="2417619"/>
            <a:ext cx="4275138" cy="2498933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Book Antiqua" panose="02040602050305030304" pitchFamily="18" charset="0"/>
              </a:rPr>
              <a:t>The multivariate heatmap maps the correlations between continuous health variables, specifically linking the number of reduced activity days with higher visit rates.</a:t>
            </a:r>
            <a:endParaRPr lang="en-US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6D1133-4385-0C4C-FE56-701A647BE00E}"/>
              </a:ext>
            </a:extLst>
          </p:cNvPr>
          <p:cNvSpPr txBox="1"/>
          <p:nvPr/>
        </p:nvSpPr>
        <p:spPr>
          <a:xfrm>
            <a:off x="3837710" y="989229"/>
            <a:ext cx="3123222" cy="4616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Correlation Heatmap</a:t>
            </a:r>
            <a:endParaRPr lang="en-US" sz="2400" dirty="0">
              <a:latin typeface="Book Antiqua" panose="0204060205030503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9BE4C2-D90E-D01D-D1E9-19F078321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61" y="1655401"/>
            <a:ext cx="5786138" cy="42133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DEACAF-48D1-7A45-D353-648BB94A31EF}"/>
              </a:ext>
            </a:extLst>
          </p:cNvPr>
          <p:cNvSpPr txBox="1"/>
          <p:nvPr/>
        </p:nvSpPr>
        <p:spPr>
          <a:xfrm>
            <a:off x="422959" y="6287254"/>
            <a:ext cx="157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Link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33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572</TotalTime>
  <Words>373</Words>
  <Application>Microsoft Office PowerPoint</Application>
  <PresentationFormat>Widescreen</PresentationFormat>
  <Paragraphs>44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Book Antiqua</vt:lpstr>
      <vt:lpstr>Calibri</vt:lpstr>
      <vt:lpstr>Trebuchet MS</vt:lpstr>
      <vt:lpstr>Wingdings</vt:lpstr>
      <vt:lpstr>Wingdings 3</vt:lpstr>
      <vt:lpstr>Facet</vt:lpstr>
      <vt:lpstr>PowerPoint Presentation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Divyanshu Tripathi</cp:lastModifiedBy>
  <cp:revision>76</cp:revision>
  <dcterms:created xsi:type="dcterms:W3CDTF">2021-07-11T13:13:15Z</dcterms:created>
  <dcterms:modified xsi:type="dcterms:W3CDTF">2026-10-04T16:07:54Z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